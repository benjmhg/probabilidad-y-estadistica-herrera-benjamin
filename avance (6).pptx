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1" r:id="rId22"/>
    <p:sldId id="272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25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3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8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y Estadística Computacional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24248" y="4069080"/>
            <a:ext cx="2743200" cy="0"/>
          </a:xfrm>
          <a:prstGeom prst="line">
            <a:avLst/>
          </a:prstGeom>
          <a:noFill/>
          <a:ln w="19050">
            <a:solidFill>
              <a:srgbClr val="C67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Herrera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DATOS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escenario y el conjunto de datos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CL" sz="1400" dirty="0">
                <a:solidFill>
                  <a:schemeClr val="bg1"/>
                </a:solidFill>
              </a:rPr>
              <a:t>Como analista de datos de un equipo de ingeniería, se analiza un histórico de métricas de DevOps con estadística descriptiva en R. Cada fila del archivo devops_metrics.csv es un evento de integración/despliegue: 5.008 filas y 11 variables, con problemas de calidad (faltantes, valores fuera de rango y duplicados) que se depuran en la Fase 1.  	</a:t>
            </a:r>
          </a:p>
          <a:p>
            <a:pPr algn="just"/>
            <a:r>
              <a:rPr lang="es-CL" sz="1400" dirty="0">
                <a:solidFill>
                  <a:schemeClr val="bg1"/>
                </a:solidFill>
              </a:rPr>
              <a:t>* El valor numero 11 es un id que se le dio a cada evento para identificarlo</a:t>
            </a:r>
            <a:endParaRPr lang="en-US" sz="1400" dirty="0">
              <a:solidFill>
                <a:schemeClr val="bg1"/>
              </a:solidFill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4977646-9154-81C3-9F71-F98DD2AE1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107882"/>
              </p:ext>
            </p:extLst>
          </p:nvPr>
        </p:nvGraphicFramePr>
        <p:xfrm>
          <a:off x="550164" y="2788921"/>
          <a:ext cx="11091672" cy="36576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454175544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3963505321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354338588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540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build_time_min / deploy_time_min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 de build y de despliegue (min)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2672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commit_size_loc / num_bugs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discreta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Líneas modificadas y bugs tras el despliegue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3876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test_coverage_pct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de pruebas (0–100 %)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19197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ticket_resolution_h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para resolver el ticket asociado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3543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/ module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nominal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(Alpha…Delta) y módulo (auth, api, ui…)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3568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ordinal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· media · alta · crítica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2102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deploy_status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nominal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· failed · rolled_back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7444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Objetivos, entorno y trabajo con IA</a:t>
            </a:r>
            <a:endParaRPr lang="en-US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95A9227-8578-203C-7C05-EA8B7BA395F4}"/>
              </a:ext>
            </a:extLst>
          </p:cNvPr>
          <p:cNvSpPr txBox="1"/>
          <p:nvPr/>
        </p:nvSpPr>
        <p:spPr>
          <a:xfrm>
            <a:off x="548640" y="1905095"/>
            <a:ext cx="11064240" cy="432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buSzPct val="100000"/>
            </a:pPr>
            <a:r>
              <a:rPr lang="en-US" sz="1300" dirty="0">
                <a:solidFill>
                  <a:schemeClr val="bg1"/>
                </a:solidFill>
              </a:rPr>
              <a:t>En </a:t>
            </a:r>
            <a:r>
              <a:rPr lang="en-US" sz="1300" dirty="0" err="1">
                <a:solidFill>
                  <a:schemeClr val="bg1"/>
                </a:solidFill>
              </a:rPr>
              <a:t>cuanto</a:t>
            </a:r>
            <a:r>
              <a:rPr lang="en-US" sz="1300" dirty="0">
                <a:solidFill>
                  <a:schemeClr val="bg1"/>
                </a:solidFill>
              </a:rPr>
              <a:t> a </a:t>
            </a:r>
            <a:r>
              <a:rPr lang="en-US" sz="1300" dirty="0" err="1">
                <a:solidFill>
                  <a:schemeClr val="bg1"/>
                </a:solidFill>
              </a:rPr>
              <a:t>objetivos</a:t>
            </a:r>
            <a:r>
              <a:rPr lang="en-US" sz="1300" dirty="0">
                <a:solidFill>
                  <a:schemeClr val="bg1"/>
                </a:solidFill>
              </a:rPr>
              <a:t> temenos 3 principals: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central,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forma.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variables.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reproducible con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accionables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s-CL" sz="1300" dirty="0">
                <a:solidFill>
                  <a:schemeClr val="bg1"/>
                </a:solidFill>
              </a:rPr>
              <a:t>Entorno:</a:t>
            </a: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 (≥ 4.2) + RStudio, Git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tidyverse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moments para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asimetría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/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curtosis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rmarkdown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o quarto para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reporte</a:t>
            </a:r>
            <a:endParaRPr lang="en-US" sz="130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Trabajo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con IA</a:t>
            </a: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La IA es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asistente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, no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reemplazo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verifica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explica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línea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Lleva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anota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prompt, sus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versiones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corregiste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Sin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de prompts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proyecto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considera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incompleto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>
              <a:spcAft>
                <a:spcPts val="800"/>
              </a:spcAft>
              <a:buSzPct val="100000"/>
            </a:pPr>
            <a:endParaRPr lang="en-US" sz="130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  <a:p>
            <a:pPr lvl="7">
              <a:spcAft>
                <a:spcPts val="900"/>
              </a:spcAft>
              <a:buSzPct val="100000"/>
            </a:pP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Carga y limpieza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1   </a:t>
            </a:r>
            <a:r>
              <a:rPr sz="1500" b="1">
                <a:solidFill>
                  <a:srgbClr val="FFFFFF"/>
                </a:solidFill>
                <a:latin typeface="Calibri"/>
              </a:rPr>
              <a:t>Carga e inspección.  </a:t>
            </a:r>
            <a:r>
              <a:rPr sz="1350">
                <a:solidFill>
                  <a:srgbClr val="D8DEDE"/>
                </a:solidFill>
                <a:latin typeface="Calibri"/>
              </a:rPr>
              <a:t>Se importó el archivo (5.008 filas, 11 variables) y se revisaron su estructura, rangos y valores faltantes.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2   </a:t>
            </a:r>
            <a:r>
              <a:rPr sz="1500" b="1">
                <a:solidFill>
                  <a:srgbClr val="FFFFFF"/>
                </a:solidFill>
                <a:latin typeface="Calibri"/>
              </a:rPr>
              <a:t>Eliminación de duplicados.  </a:t>
            </a:r>
            <a:r>
              <a:rPr sz="1350">
                <a:solidFill>
                  <a:srgbClr val="D8DEDE"/>
                </a:solidFill>
                <a:latin typeface="Calibri"/>
              </a:rPr>
              <a:t>Se detectaron y quitaron 8 filas repetidas exactas (5.008 → 5.000).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3   </a:t>
            </a:r>
            <a:r>
              <a:rPr sz="1500" b="1">
                <a:solidFill>
                  <a:srgbClr val="FFFFFF"/>
                </a:solidFill>
                <a:latin typeface="Calibri"/>
              </a:rPr>
              <a:t>Normalización de categorías.  </a:t>
            </a:r>
            <a:r>
              <a:rPr sz="1350">
                <a:solidFill>
                  <a:srgbClr val="D8DEDE"/>
                </a:solidFill>
                <a:latin typeface="Calibri"/>
              </a:rPr>
              <a:t>Se unificó la variable prioridad (mayúsculas y espacios) en 4 niveles consistentes.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4   </a:t>
            </a:r>
            <a:r>
              <a:rPr sz="1500" b="1">
                <a:solidFill>
                  <a:srgbClr val="FFFFFF"/>
                </a:solidFill>
                <a:latin typeface="Calibri"/>
              </a:rPr>
              <a:t>Corrección de tipos.  </a:t>
            </a:r>
            <a:r>
              <a:rPr sz="1350">
                <a:solidFill>
                  <a:srgbClr val="D8DEDE"/>
                </a:solidFill>
                <a:latin typeface="Calibri"/>
              </a:rPr>
              <a:t>Las variables cualitativas se convirtieron a factor; la prioridad se definió como ordinal.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5   </a:t>
            </a:r>
            <a:r>
              <a:rPr sz="1500" b="1">
                <a:solidFill>
                  <a:srgbClr val="FFFFFF"/>
                </a:solidFill>
                <a:latin typeface="Calibri"/>
              </a:rPr>
              <a:t>Valores imposibles.  </a:t>
            </a:r>
            <a:r>
              <a:rPr sz="1350">
                <a:solidFill>
                  <a:srgbClr val="D8DEDE"/>
                </a:solidFill>
                <a:latin typeface="Calibri"/>
              </a:rPr>
              <a:t>12 registros de cobertura fuera del rango 0–100 % se marcaron como faltantes.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6   </a:t>
            </a:r>
            <a:r>
              <a:rPr sz="1500" b="1">
                <a:solidFill>
                  <a:srgbClr val="FFFFFF"/>
                </a:solidFill>
                <a:latin typeface="Calibri"/>
              </a:rPr>
              <a:t>Tratamiento de faltantes.  </a:t>
            </a:r>
            <a:r>
              <a:rPr sz="1350">
                <a:solidFill>
                  <a:srgbClr val="D8DEDE"/>
                </a:solidFill>
                <a:latin typeface="Calibri"/>
              </a:rPr>
              <a:t>Se conservaron los 312 NA (sin imputar ni eliminar) para analizarlos con los datos disponibles.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7   </a:t>
            </a:r>
            <a:r>
              <a:rPr sz="1500" b="1">
                <a:solidFill>
                  <a:srgbClr val="FFFFFF"/>
                </a:solidFill>
                <a:latin typeface="Calibri"/>
              </a:rPr>
              <a:t>Exportación.  </a:t>
            </a:r>
            <a:r>
              <a:rPr sz="1350">
                <a:solidFill>
                  <a:srgbClr val="D8DEDE"/>
                </a:solidFill>
                <a:latin typeface="Calibri"/>
              </a:rPr>
              <a:t>Se guardó el conjunto limpio (devops_metrics_clean.csv) para las fases siguientes.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Descriptiva univariada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91672" cy="21762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30552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mediana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desv_est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coef_var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rango_iq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asimetría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curtosis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build_time_min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8.32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7.49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4.08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4.68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1.68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8.21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deploy_time_min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3.60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3.35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1.46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1.77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1.30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6.53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commit_size_loc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139.09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100.50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120.00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1.44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5.72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num_bugs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1.09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1.20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1.45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5.62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test_coverage_pct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84.48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85.80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8.42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11.75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-0.71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3.13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ticket_resolution_h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8.82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6.70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7.48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7.03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2.73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16.14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2628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La mayoría de las variables tienen asimetría positiva: la media supera a la mediana (sesgo hacia la derecha).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ticket_resolution_h es la más sesgada y con más valores atípicos (curtosis 16.14); test_coverage_pct es la más simétrica y homogénea.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Las más irregulares (mayor coeficiente de variación) son num_bugs y commit_size_loc.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Frecuencias y agrupación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3840480" cy="3840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37360"/>
                <a:gridCol w="96012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clase (min)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fr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1.25 – 4.15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494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0.099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4.15 – 7.01</a:t>
                      </a:r>
                    </a:p>
                  </a:txBody>
                  <a:tcPr marL="73152" marR="73152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1703</a:t>
                      </a:r>
                    </a:p>
                  </a:txBody>
                  <a:tcPr marL="73152" marR="73152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0.341</a:t>
                      </a:r>
                    </a:p>
                  </a:txBody>
                  <a:tcPr marL="73152" marR="73152" marT="0" marB="0" anchor="ctr">
                    <a:solidFill>
                      <a:srgbClr val="C67A5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7.01 – 9.86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1436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0.287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9.86 – 12.7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766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12.7 – 15.6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15.6 – 18.4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18.4 – 21.3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21.3 – 24.2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24.2 – 27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27 – 29.9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29.9 – 32.7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32.7 – 35.6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38.4 – 41.3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92040" y="1874519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En palabras simples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>
                <a:solidFill>
                  <a:srgbClr val="D8DEDE"/>
                </a:solidFill>
                <a:latin typeface="Calibri"/>
              </a:rPr>
              <a:t>Lo más común es que un build tarde entre 4 y 7 minutos (fila naranja): 1.703 casos, la clase con más datos.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>
                <a:solidFill>
                  <a:srgbClr val="D8DEDE"/>
                </a:solidFill>
                <a:latin typeface="Calibri"/>
              </a:rPr>
              <a:t>Casi 3 de cada 4 builds terminan en menos de 10 minutos.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>
                <a:solidFill>
                  <a:srgbClr val="D8DEDE"/>
                </a:solidFill>
                <a:latin typeface="Calibri"/>
              </a:rPr>
              <a:t>Muy pocos builds superan los 18 minutos: son los casos lentos y poco frecuentes.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Análisis por grupos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148840"/>
          <a:ext cx="5257800" cy="1828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777240"/>
                <a:gridCol w="105156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build md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bugs prom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tasa fallos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1533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7.49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0.034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1921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7.47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1063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7.56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1.19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0.048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critica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483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7.32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1.51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60520"/>
            <a:ext cx="5257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AA3A4"/>
                </a:solidFill>
                <a:latin typeface="Calibri"/>
              </a:rPr>
              <a:t>build md = mediana del tiempo de build (min)  ·  tasa fallos = proporción de deploy fallidos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874519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Hallazgos principales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Prioridad.  </a:t>
            </a:r>
            <a:r>
              <a:rPr sz="1400">
                <a:solidFill>
                  <a:srgbClr val="D8DEDE"/>
                </a:solidFill>
                <a:latin typeface="Calibri"/>
              </a:rPr>
              <a:t>a mayor prioridad, más bugs (de 0.57 en baja a 1.51 en crítica) y casi el doble de fallos. Los despliegues urgentes son más riesgosos.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Equipos.  </a:t>
            </a:r>
            <a:r>
              <a:rPr sz="1400">
                <a:solidFill>
                  <a:srgbClr val="D8DEDE"/>
                </a:solidFill>
                <a:latin typeface="Calibri"/>
              </a:rPr>
              <a:t>se diferencian en velocidad, no en calidad: Gamma es el más lento (8.42 min) y Alpha el más rápido (6.76 min), con bugs y fallos similares.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Módulos.  </a:t>
            </a:r>
            <a:r>
              <a:rPr sz="1400">
                <a:solidFill>
                  <a:srgbClr val="D8DEDE"/>
                </a:solidFill>
                <a:latin typeface="Calibri"/>
              </a:rPr>
              <a:t>diferencias menores; auth es el más estable y search el de mayor tasa de fallos.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Relaciones bivariadas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5550408" cy="21122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51560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deploy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bugs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cobert.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ticket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build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deploy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54864" marR="54864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-0.01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-0.05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bugs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marL="54864" marR="54864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-0.15</a:t>
                      </a:r>
                    </a:p>
                  </a:txBody>
                  <a:tcPr marL="54864" marR="54864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-0.08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cobert.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-0.01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-0.15</a:t>
                      </a:r>
                    </a:p>
                  </a:txBody>
                  <a:tcPr marL="54864" marR="54864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ticket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-0.05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-0.08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605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67A55"/>
                </a:solidFill>
                <a:latin typeface="Calibri"/>
              </a:rPr>
              <a:t>Correlación no es causalidad: </a:t>
            </a:r>
            <a:r>
              <a:rPr sz="1300">
                <a:solidFill>
                  <a:srgbClr val="D8DEDE"/>
                </a:solidFill>
                <a:latin typeface="Calibri"/>
              </a:rPr>
              <a:t>que dos variables se muevan juntas no prueba que una cause la otra.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Qué se observa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Relación más fuerte: commits grandes ↔ más bugs (0.42).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Más cobertura de pruebas ↔ menos bugs (-0.15), relación débil.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El resto de las variables son casi independientes (≈ 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70332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Calibri"/>
              </a:rPr>
              <a:t>Equipo × estado del deploy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3977639"/>
          <a:ext cx="4389120" cy="1554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43000"/>
                <a:gridCol w="960120"/>
                <a:gridCol w="1234440"/>
                <a:gridCol w="105156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equipo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failed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rolled_back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success</a:t>
                      </a:r>
                    </a:p>
                  </a:txBody>
                  <a:tcPr marL="54864" marR="54864" marT="0" marB="0" anchor="ctr">
                    <a:solidFill>
                      <a:srgbClr val="2B333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Alpha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1429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Beta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1403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829</a:t>
                      </a:r>
                    </a:p>
                  </a:txBody>
                  <a:tcPr marL="54864" marR="54864" marT="0" marB="0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Gamma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1037</a:t>
                      </a:r>
                    </a:p>
                  </a:txBody>
                  <a:tcPr marL="54864" marR="54864" marT="0" marB="0" anchor="ctr">
                    <a:solidFill>
                      <a:srgbClr val="343D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Visualización</a:t>
            </a:r>
            <a:endParaRPr lang="en-US" sz="3200" dirty="0"/>
          </a:p>
        </p:txBody>
      </p:sp>
      <p:pic>
        <p:nvPicPr>
          <p:cNvPr id="4" name="Picture 3" descr="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5486400" cy="2759666"/>
          </a:xfrm>
          <a:prstGeom prst="rect">
            <a:avLst/>
          </a:prstGeom>
        </p:spPr>
      </p:pic>
      <p:pic>
        <p:nvPicPr>
          <p:cNvPr id="5" name="Picture 4" descr="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783080"/>
            <a:ext cx="5486400" cy="2604052"/>
          </a:xfrm>
          <a:prstGeom prst="rect">
            <a:avLst/>
          </a:prstGeom>
        </p:spPr>
      </p:pic>
      <p:pic>
        <p:nvPicPr>
          <p:cNvPr id="6" name="Picture 5" descr="g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224528"/>
            <a:ext cx="5486400" cy="2588422"/>
          </a:xfrm>
          <a:prstGeom prst="rect">
            <a:avLst/>
          </a:prstGeom>
        </p:spPr>
      </p:pic>
      <p:pic>
        <p:nvPicPr>
          <p:cNvPr id="7" name="Picture 6" descr="g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4224528"/>
            <a:ext cx="5486400" cy="2866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Reporte reproducible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Qué es.  </a:t>
            </a:r>
            <a:r>
              <a:rPr sz="1500">
                <a:solidFill>
                  <a:srgbClr val="D8DEDE"/>
                </a:solidFill>
                <a:latin typeface="Calibri"/>
              </a:rPr>
              <a:t>un documento .Rmd que combina el código de R, sus resultados y la explicación en un solo archivo.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Reproducible.  </a:t>
            </a:r>
            <a:r>
              <a:rPr sz="1500">
                <a:solidFill>
                  <a:srgbClr val="D8DEDE"/>
                </a:solidFill>
                <a:latin typeface="Calibri"/>
              </a:rPr>
              <a:t>cualquiera puede volver a generarlo (botón Knit) y obtiene exactamente los mismos resultados.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Contenido.  </a:t>
            </a:r>
            <a:r>
              <a:rPr sz="1500">
                <a:solidFill>
                  <a:srgbClr val="D8DEDE"/>
                </a:solidFill>
                <a:latin typeface="Calibri"/>
              </a:rPr>
              <a:t>incluye las 7 fases del análisis, desde la carga hasta las conclusiones.</a:t>
            </a:r>
          </a:p>
          <a:p>
            <a:pPr>
              <a:lnSpc>
                <a:spcPct val="108000"/>
              </a:lnSpc>
              <a:spcAft>
                <a:spcPts val="13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Salida.  </a:t>
            </a:r>
            <a:r>
              <a:rPr sz="1500">
                <a:solidFill>
                  <a:srgbClr val="D8DEDE"/>
                </a:solidFill>
                <a:latin typeface="Calibri"/>
              </a:rPr>
              <a:t>se exporta a HTML o PDF para entregar.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CRÍTICO DE LA IA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Bitácora de prompts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0515600" cy="34015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57200"/>
                <a:gridCol w="3200400"/>
                <a:gridCol w="3566160"/>
                <a:gridCol w="329184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Qué pedí a la IA</a:t>
                      </a:r>
                    </a:p>
                  </a:txBody>
                  <a:tcPr marL="64008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Cómo lo refiné</a:t>
                      </a:r>
                    </a:p>
                  </a:txBody>
                  <a:tcPr marL="64008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Qué verifiqué</a:t>
                      </a:r>
                    </a:p>
                  </a:txBody>
                  <a:tcPr marL="64008" marR="54864" marT="0" marB="0" anchor="ctr">
                    <a:solidFill>
                      <a:srgbClr val="2B333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Generar el dataset DevOps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Agregar faltantes, valores fuera de rango y duplicados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Tipos y rangos de cada variable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Script de carga y limpieza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Usar solo funciones básicas y conservar los NA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Conteo de NA y duplicados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Descriptiva univariada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Dejar solo lo pedido y en español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Fórmula de asimetría y curtosis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Tabla de frecuencias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Mostrarla en decimal y con todas las clases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La clase modal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Grupos y correlaciones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Distinguir correlación de causalidad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Coincidencia con los hallazgos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Conclusiones y defensa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Prioridad.  </a:t>
            </a:r>
            <a:r>
              <a:rPr sz="1500">
                <a:solidFill>
                  <a:srgbClr val="D8DEDE"/>
                </a:solidFill>
                <a:latin typeface="Calibri"/>
              </a:rPr>
              <a:t>es el factor más influyente: a mayor prioridad, más bugs (0.57 a 1.51) y más fallos.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Commits grandes.  </a:t>
            </a:r>
            <a:r>
              <a:rPr sz="1500">
                <a:solidFill>
                  <a:srgbClr val="D8DEDE"/>
                </a:solidFill>
                <a:latin typeface="Calibri"/>
              </a:rPr>
              <a:t>se asocian a más bugs (correlación 0.42), la relación más fuerte del análisis.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Equipos.  </a:t>
            </a:r>
            <a:r>
              <a:rPr sz="1500">
                <a:solidFill>
                  <a:srgbClr val="D8DEDE"/>
                </a:solidFill>
                <a:latin typeface="Calibri"/>
              </a:rPr>
              <a:t>difieren en velocidad de build, no en calidad.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Limpieza.  </a:t>
            </a:r>
            <a:r>
              <a:rPr sz="1500">
                <a:solidFill>
                  <a:srgbClr val="D8DEDE"/>
                </a:solidFill>
                <a:latin typeface="Calibri"/>
              </a:rPr>
              <a:t>se conservaron los faltantes para no distorsionar la dispersión.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 b="1">
                <a:solidFill>
                  <a:srgbClr val="FFFFFF"/>
                </a:solidFill>
                <a:latin typeface="Calibri"/>
              </a:rPr>
              <a:t>Cierre.  </a:t>
            </a:r>
            <a:r>
              <a:rPr sz="1500">
                <a:solidFill>
                  <a:srgbClr val="D8DEDE"/>
                </a:solidFill>
                <a:latin typeface="Calibri"/>
              </a:rPr>
              <a:t>correlación no es causalidad: los hallazgos describen patrones, no causas.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67A55"/>
                </a:solidFill>
                <a:latin typeface="Calibri"/>
              </a:rPr>
              <a:t>RESPALDO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Calibri Light"/>
              </a:rPr>
              <a:t>Diccionario de variables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0515600" cy="4023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86000"/>
                <a:gridCol w="27432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64008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64008" marR="54864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64008" marR="54864" marT="0" marB="0" anchor="ctr">
                    <a:solidFill>
                      <a:srgbClr val="2B33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build_time_min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cuantitativa continua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duración del build (min)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deploy_time_min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cuantitativa continua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duración del despliegue (min)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commit_size_loc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cuantitativa discreta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líneas de código modificadas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num_bugs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cuantitativa discreta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bugs tras el despliegue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test_coverage_pct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cuantitativa continua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cobertura de pruebas (0–100 %)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ticket_resolution_h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cuantitativa continua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horas para resolver el ticket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cualitativa nominal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equipo (Alpha–Delta)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cualitativa nominal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módulo (auth, api, ui…)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cualitativa ordinal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baja · media · alta · crítica</a:t>
                      </a:r>
                    </a:p>
                  </a:txBody>
                  <a:tcPr marL="64008" marR="54864" marT="0" marB="0" anchor="ctr">
                    <a:solidFill>
                      <a:srgbClr val="3B45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deploy_status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cualitativa nominal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success · failed · rolled_back</a:t>
                      </a:r>
                    </a:p>
                  </a:txBody>
                  <a:tcPr marL="64008" marR="54864" marT="0" marB="0" anchor="ctr">
                    <a:solidFill>
                      <a:srgbClr val="343D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67A55"/>
                </a:solidFill>
                <a:latin typeface="Calibri"/>
              </a:rPr>
              <a:t>RESPALDO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Calibri Light"/>
              </a:rPr>
              <a:t>Decisiones de limpieza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Duplicados.  </a:t>
            </a:r>
            <a:r>
              <a:rPr sz="1400">
                <a:solidFill>
                  <a:srgbClr val="D8DEDE"/>
                </a:solidFill>
                <a:latin typeface="Calibri"/>
              </a:rPr>
              <a:t>8 filas repetidas exactas eliminadas (5.008 a 5.000).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Prioridad.  </a:t>
            </a:r>
            <a:r>
              <a:rPr sz="1400">
                <a:solidFill>
                  <a:srgbClr val="D8DEDE"/>
                </a:solidFill>
                <a:latin typeface="Calibri"/>
              </a:rPr>
              <a:t>'Alta', ' media', 'CRITICA' normalizadas a minúsculas sin espacios.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Tipos.  </a:t>
            </a:r>
            <a:r>
              <a:rPr sz="1400">
                <a:solidFill>
                  <a:srgbClr val="D8DEDE"/>
                </a:solidFill>
                <a:latin typeface="Calibri"/>
              </a:rPr>
              <a:t>categóricas a factor; prioridad como factor ordinal.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Cobertura.  </a:t>
            </a:r>
            <a:r>
              <a:rPr sz="1400">
                <a:solidFill>
                  <a:srgbClr val="D8DEDE"/>
                </a:solidFill>
                <a:latin typeface="Calibri"/>
              </a:rPr>
              <a:t>12 valores fuera de 0–100 % marcados como NA (error de captura).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Faltantes.  </a:t>
            </a:r>
            <a:r>
              <a:rPr sz="1400">
                <a:solidFill>
                  <a:srgbClr val="D8DEDE"/>
                </a:solidFill>
                <a:latin typeface="Calibri"/>
              </a:rPr>
              <a:t>312 NA conservados; se analizan con na.rm = TRUE (no se imputan ni eliminan).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67A55"/>
                </a:solidFill>
                <a:latin typeface="Calibri"/>
              </a:rPr>
              <a:t>RESPALDO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Calibri Light"/>
              </a:rPr>
              <a:t>Glosario estadístico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Media / mediana.  </a:t>
            </a:r>
            <a:r>
              <a:rPr sz="1400">
                <a:solidFill>
                  <a:srgbClr val="D8DEDE"/>
                </a:solidFill>
                <a:latin typeface="Calibri"/>
              </a:rPr>
              <a:t>promedio y valor central; si media &gt; mediana hay sesgo a la derecha.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Desv. estándar / CV.  </a:t>
            </a:r>
            <a:r>
              <a:rPr sz="1400">
                <a:solidFill>
                  <a:srgbClr val="D8DEDE"/>
                </a:solidFill>
                <a:latin typeface="Calibri"/>
              </a:rPr>
              <a:t>dispersión absoluta y relativa (permite comparar escalas).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Rango intercuartílico.  </a:t>
            </a:r>
            <a:r>
              <a:rPr sz="1400">
                <a:solidFill>
                  <a:srgbClr val="D8DEDE"/>
                </a:solidFill>
                <a:latin typeface="Calibri"/>
              </a:rPr>
              <a:t>ancho del 50 % central de los datos.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Asimetría.  </a:t>
            </a:r>
            <a:r>
              <a:rPr sz="1400">
                <a:solidFill>
                  <a:srgbClr val="D8DEDE"/>
                </a:solidFill>
                <a:latin typeface="Calibri"/>
              </a:rPr>
              <a:t>+ cola a la derecha, − cola a la izquierda, 0 simétrica.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Curtosis.  </a:t>
            </a:r>
            <a:r>
              <a:rPr sz="1400">
                <a:solidFill>
                  <a:srgbClr val="D8DEDE"/>
                </a:solidFill>
                <a:latin typeface="Calibri"/>
              </a:rPr>
              <a:t>referencia 3; sobre 3 = más valores atípicos.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Correlación.  </a:t>
            </a:r>
            <a:r>
              <a:rPr sz="1400">
                <a:solidFill>
                  <a:srgbClr val="D8DEDE"/>
                </a:solidFill>
                <a:latin typeface="Calibri"/>
              </a:rPr>
              <a:t>de −1 a 1; mide si dos variables se mueven juntas.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67A55"/>
                </a:solidFill>
                <a:latin typeface="Calibri"/>
              </a:rPr>
              <a:t>RESPALDO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Calibri Light"/>
              </a:rPr>
              <a:t>Preguntas frecuentes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¿Por qué la curtosis normal da 3?.  </a:t>
            </a:r>
            <a:r>
              <a:rPr sz="1400">
                <a:solidFill>
                  <a:srgbClr val="D8DEDE"/>
                </a:solidFill>
                <a:latin typeface="Calibri"/>
              </a:rPr>
              <a:t>el paquete moments no resta 3 (no usa exceso de curtosis).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¿Por qué conservar los NA?.  </a:t>
            </a:r>
            <a:r>
              <a:rPr sz="1400">
                <a:solidFill>
                  <a:srgbClr val="D8DEDE"/>
                </a:solidFill>
                <a:latin typeface="Calibri"/>
              </a:rPr>
              <a:t>imputar reduce la dispersión real y eliminar pierde información.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¿Por qué 14 clases?.  </a:t>
            </a:r>
            <a:r>
              <a:rPr sz="1400">
                <a:solidFill>
                  <a:srgbClr val="D8DEDE"/>
                </a:solidFill>
                <a:latin typeface="Calibri"/>
              </a:rPr>
              <a:t>regla de Sturges: 1 + 3.322·log10(n) con n = 5.000.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¿Correlación = causa?.  </a:t>
            </a:r>
            <a:r>
              <a:rPr sz="1400">
                <a:solidFill>
                  <a:srgbClr val="D8DEDE"/>
                </a:solidFill>
                <a:latin typeface="Calibri"/>
              </a:rPr>
              <a:t>no; puede haber una tercera variable detrás de la relación.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67A55"/>
                </a:solidFill>
                <a:latin typeface="Calibri"/>
              </a:rPr>
              <a:t>RESPALDO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FFFFFF"/>
                </a:solidFill>
                <a:latin typeface="Calibri Light"/>
              </a:rPr>
              <a:t>Limitaciones y trabajo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Datos simulados.  </a:t>
            </a:r>
            <a:r>
              <a:rPr sz="1400">
                <a:solidFill>
                  <a:srgbClr val="D8DEDE"/>
                </a:solidFill>
                <a:latin typeface="Calibri"/>
              </a:rPr>
              <a:t>el dataset es sintético; los patrones podrían diferir en datos reales.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Solo descriptivo.  </a:t>
            </a:r>
            <a:r>
              <a:rPr sz="1400">
                <a:solidFill>
                  <a:srgbClr val="D8DEDE"/>
                </a:solidFill>
                <a:latin typeface="Calibri"/>
              </a:rPr>
              <a:t>no se aplicaron pruebas de hipótesis ni modelos predictivos.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Correlaciones lineales.  </a:t>
            </a:r>
            <a:r>
              <a:rPr sz="1400">
                <a:solidFill>
                  <a:srgbClr val="D8DEDE"/>
                </a:solidFill>
                <a:latin typeface="Calibri"/>
              </a:rPr>
              <a:t>no se capturan relaciones no lineales entre variables.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Siguiente paso.  </a:t>
            </a:r>
            <a:r>
              <a:rPr sz="1400">
                <a:solidFill>
                  <a:srgbClr val="D8DEDE"/>
                </a:solidFill>
                <a:latin typeface="Calibri"/>
              </a:rPr>
              <a:t>validar los hallazgos con datos productivos y análisis inferencial.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465</Words>
  <Application>Microsoft Office PowerPoint</Application>
  <PresentationFormat>Panorámica</PresentationFormat>
  <Paragraphs>84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Matías Vicente Reyes Duarte</cp:lastModifiedBy>
  <cp:revision>2</cp:revision>
  <dcterms:created xsi:type="dcterms:W3CDTF">2026-08-28T20:21:12Z</dcterms:created>
  <dcterms:modified xsi:type="dcterms:W3CDTF">2026-08-28T20:49:31Z</dcterms:modified>
</cp:coreProperties>
</file>