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9"/>
    <p:sldId id="269" r:id="rId20"/>
    <p:sldId id="270" r:id="rId21"/>
    <p:sldId id="271" r:id="rId22"/>
    <p:sldId id="272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32512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B45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2331720"/>
            <a:ext cx="1219169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Lab 3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0" y="342900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D8D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Probabilidad y Estadística Computacional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724248" y="4069080"/>
            <a:ext cx="2743200" cy="0"/>
          </a:xfrm>
          <a:prstGeom prst="line">
            <a:avLst/>
          </a:prstGeom>
          <a:noFill/>
          <a:ln w="19050">
            <a:solidFill>
              <a:srgbClr val="C67A5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 txBox="1"/>
          <p:nvPr/>
        </p:nvSpPr>
        <p:spPr>
          <a:xfrm>
            <a:off x="0" y="420624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Benjamín Herrera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B45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6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Y DATOS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El escenario y el conjunto de datos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/>
            <a:r>
              <a:rPr lang="es-CL" sz="1400" dirty="0">
                <a:solidFill>
                  <a:schemeClr val="bg1"/>
                </a:solidFill>
              </a:rPr>
              <a:t>Como analista de datos de un equipo de ingeniería, se analiza un histórico de métricas de DevOps con estadística descriptiva en R. Cada fila del archivo devops_metrics.csv es un evento de integración/despliegue: 5.008 filas y 11 variables, con problemas de calidad (faltantes, valores fuera de rango y duplicados) que se depuran en la Fase 1.  	</a:t>
            </a:r>
          </a:p>
          <a:p>
            <a:pPr algn="just"/>
            <a:r>
              <a:rPr lang="es-CL" sz="1400" dirty="0">
                <a:solidFill>
                  <a:schemeClr val="bg1"/>
                </a:solidFill>
              </a:rPr>
              <a:t>* El valor numero 11 es un id que se le dio a cada evento para identificarlo</a:t>
            </a:r>
            <a:endParaRPr lang="en-US" sz="1400" dirty="0">
              <a:solidFill>
                <a:schemeClr val="bg1"/>
              </a:solidFill>
            </a:endParaRPr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A4977646-9154-81C3-9F71-F98DD2AE17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0107882"/>
              </p:ext>
            </p:extLst>
          </p:nvPr>
        </p:nvGraphicFramePr>
        <p:xfrm>
          <a:off x="550164" y="2788921"/>
          <a:ext cx="11091672" cy="3657600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454175544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3963505321"/>
                    </a:ext>
                  </a:extLst>
                </a:gridCol>
                <a:gridCol w="4782312">
                  <a:extLst>
                    <a:ext uri="{9D8B030D-6E8A-4147-A177-3AD203B41FA5}">
                      <a16:colId xmlns:a16="http://schemas.microsoft.com/office/drawing/2014/main" val="354338588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Descripción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085404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build_time_min / deploy_time_min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Cuantitativa continua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Duración de build y de despliegue (min)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126725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commit_size_loc / num_bugs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Cuantitativa discreta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Líneas modificadas y bugs tras el despliegue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038768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test_coverage_pct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Cuantitativa continua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Cobertura de pruebas (0–100 %)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119197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ticket_resolution_h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Cuantitativa continua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Horas para resolver el ticket asociado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735431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/ module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Cualitativa nominal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Equipo (Alpha…Delta) y módulo (auth, api, ui…)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33568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Cualitativa ordinal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baja · media · alta · crítica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121022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deploy_status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Cualitativa nominal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success · failed · rolled_back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774444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3B45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6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PREPARACIÓN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Objetivos, entorno y trabajo con IA</a:t>
            </a:r>
            <a:endParaRPr lang="en-US" sz="3200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695A9227-8578-203C-7C05-EA8B7BA395F4}"/>
              </a:ext>
            </a:extLst>
          </p:cNvPr>
          <p:cNvSpPr txBox="1"/>
          <p:nvPr/>
        </p:nvSpPr>
        <p:spPr>
          <a:xfrm>
            <a:off x="548640" y="1905095"/>
            <a:ext cx="11064240" cy="4321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buSzPct val="100000"/>
            </a:pPr>
            <a:r>
              <a:rPr lang="en-US" sz="1300" dirty="0">
                <a:solidFill>
                  <a:schemeClr val="bg1"/>
                </a:solidFill>
              </a:rPr>
              <a:t>En </a:t>
            </a:r>
            <a:r>
              <a:rPr lang="en-US" sz="1300" dirty="0" err="1">
                <a:solidFill>
                  <a:schemeClr val="bg1"/>
                </a:solidFill>
              </a:rPr>
              <a:t>cuanto</a:t>
            </a:r>
            <a:r>
              <a:rPr lang="en-US" sz="1300" dirty="0">
                <a:solidFill>
                  <a:schemeClr val="bg1"/>
                </a:solidFill>
              </a:rPr>
              <a:t> a </a:t>
            </a:r>
            <a:r>
              <a:rPr lang="en-US" sz="1300" dirty="0" err="1">
                <a:solidFill>
                  <a:schemeClr val="bg1"/>
                </a:solidFill>
              </a:rPr>
              <a:t>objetivos</a:t>
            </a:r>
            <a:r>
              <a:rPr lang="en-US" sz="1300" dirty="0">
                <a:solidFill>
                  <a:schemeClr val="bg1"/>
                </a:solidFill>
              </a:rPr>
              <a:t> temenos 3 principals:</a:t>
            </a:r>
          </a:p>
          <a:p>
            <a:pPr marL="342900" indent="-342900">
              <a:spcAft>
                <a:spcPts val="900"/>
              </a:spcAft>
              <a:buSzPct val="100000"/>
              <a:buFont typeface="+mj-lt"/>
              <a:buAutoNum type="arabicPeriod"/>
            </a:pPr>
            <a:r>
              <a:rPr lang="en-US" sz="14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Calcular</a:t>
            </a: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14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interpretar</a:t>
            </a: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medidas</a:t>
            </a: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4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tendencia</a:t>
            </a: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central, </a:t>
            </a:r>
            <a:r>
              <a:rPr lang="en-US" sz="14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dispersión</a:t>
            </a: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forma.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</a:p>
          <a:p>
            <a:pPr marL="342900" indent="-342900">
              <a:spcAft>
                <a:spcPts val="900"/>
              </a:spcAft>
              <a:buSzPct val="100000"/>
              <a:buFont typeface="+mj-lt"/>
              <a:buAutoNum type="arabicPeriod"/>
            </a:pPr>
            <a:r>
              <a:rPr lang="en-US" sz="14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</a:t>
            </a: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tablas</a:t>
            </a: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4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frecuencia</a:t>
            </a: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n-US" sz="14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analizar</a:t>
            </a: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relaciones</a:t>
            </a: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entre variables.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</a:p>
          <a:p>
            <a:pPr marL="342900" indent="-342900">
              <a:spcAft>
                <a:spcPts val="900"/>
              </a:spcAft>
              <a:buSzPct val="100000"/>
              <a:buFont typeface="+mj-lt"/>
              <a:buAutoNum type="arabicPeriod"/>
            </a:pPr>
            <a:r>
              <a:rPr lang="en-US" sz="14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Producir</a:t>
            </a: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 </a:t>
            </a:r>
            <a:r>
              <a:rPr lang="en-US" sz="14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</a:t>
            </a: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reproducible con </a:t>
            </a:r>
            <a:r>
              <a:rPr lang="en-US" sz="14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accionables</a:t>
            </a: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r>
              <a:rPr lang="es-CL" sz="1300" dirty="0">
                <a:solidFill>
                  <a:schemeClr val="bg1"/>
                </a:solidFill>
              </a:rPr>
              <a:t>Entorno:</a:t>
            </a:r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R (≥ 4.2) + RStudio, Git y </a:t>
            </a:r>
            <a:r>
              <a:rPr lang="en-US" sz="130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tidyverse</a:t>
            </a:r>
            <a:r>
              <a:rPr lang="en-US" sz="1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.</a:t>
            </a:r>
            <a:endParaRPr lang="en-US" sz="1300" dirty="0">
              <a:solidFill>
                <a:schemeClr val="bg1"/>
              </a:solidFill>
            </a:endParaRPr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moments para </a:t>
            </a:r>
            <a:r>
              <a:rPr lang="en-US" sz="130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asimetría</a:t>
            </a:r>
            <a:r>
              <a:rPr lang="en-US" sz="1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/</a:t>
            </a:r>
            <a:r>
              <a:rPr lang="en-US" sz="130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curtosis</a:t>
            </a:r>
            <a:r>
              <a:rPr lang="en-US" sz="1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.</a:t>
            </a:r>
            <a:endParaRPr lang="en-US" sz="1300" dirty="0">
              <a:solidFill>
                <a:schemeClr val="bg1"/>
              </a:solidFill>
            </a:endParaRPr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30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rmarkdown</a:t>
            </a:r>
            <a:r>
              <a:rPr lang="en-US" sz="1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 o quarto para </a:t>
            </a:r>
            <a:r>
              <a:rPr lang="en-US" sz="130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el</a:t>
            </a:r>
            <a:r>
              <a:rPr lang="en-US" sz="1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reporte</a:t>
            </a:r>
            <a:endParaRPr lang="en-US" sz="1300" dirty="0">
              <a:solidFill>
                <a:schemeClr val="bg1"/>
              </a:solidFill>
              <a:ea typeface="Calibri" pitchFamily="34" charset="-122"/>
              <a:cs typeface="Calibri" pitchFamily="34" charset="-120"/>
            </a:endParaRPr>
          </a:p>
          <a:p>
            <a:pPr>
              <a:spcAft>
                <a:spcPts val="800"/>
              </a:spcAft>
              <a:buSzPct val="100000"/>
            </a:pPr>
            <a:r>
              <a:rPr lang="en-US" sz="130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Trabajo</a:t>
            </a:r>
            <a:r>
              <a:rPr lang="en-US" sz="1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 con IA</a:t>
            </a:r>
          </a:p>
          <a:p>
            <a:pPr marL="190500" indent="-1905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La IA es </a:t>
            </a:r>
            <a:r>
              <a:rPr lang="en-US" sz="130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asistente</a:t>
            </a:r>
            <a:r>
              <a:rPr lang="en-US" sz="1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, no </a:t>
            </a:r>
            <a:r>
              <a:rPr lang="en-US" sz="130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reemplazo</a:t>
            </a:r>
            <a:r>
              <a:rPr lang="en-US" sz="1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: </a:t>
            </a:r>
            <a:r>
              <a:rPr lang="en-US" sz="130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verifica</a:t>
            </a:r>
            <a:r>
              <a:rPr lang="en-US" sz="1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 y </a:t>
            </a:r>
            <a:r>
              <a:rPr lang="en-US" sz="130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explica</a:t>
            </a:r>
            <a:r>
              <a:rPr lang="en-US" sz="1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cada</a:t>
            </a:r>
            <a:r>
              <a:rPr lang="en-US" sz="1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línea</a:t>
            </a:r>
            <a:r>
              <a:rPr lang="en-US" sz="1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.</a:t>
            </a:r>
            <a:endParaRPr lang="en-US" sz="1300" dirty="0">
              <a:solidFill>
                <a:schemeClr val="bg1"/>
              </a:solidFill>
            </a:endParaRPr>
          </a:p>
          <a:p>
            <a:pPr marL="190500" indent="-190500">
              <a:spcAft>
                <a:spcPts val="900"/>
              </a:spcAft>
              <a:buSzPct val="100000"/>
              <a:buChar char="•"/>
            </a:pPr>
            <a:r>
              <a:rPr lang="en-US" sz="130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Lleva</a:t>
            </a:r>
            <a:r>
              <a:rPr lang="en-US" sz="1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una</a:t>
            </a:r>
            <a:r>
              <a:rPr lang="en-US" sz="1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bitácora</a:t>
            </a:r>
            <a:r>
              <a:rPr lang="en-US" sz="1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: </a:t>
            </a:r>
            <a:r>
              <a:rPr lang="en-US" sz="130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anota</a:t>
            </a:r>
            <a:r>
              <a:rPr lang="en-US" sz="1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cada</a:t>
            </a:r>
            <a:r>
              <a:rPr lang="en-US" sz="1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 prompt, sus </a:t>
            </a:r>
            <a:r>
              <a:rPr lang="en-US" sz="130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versiones</a:t>
            </a:r>
            <a:r>
              <a:rPr lang="en-US" sz="1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 y </a:t>
            </a:r>
            <a:r>
              <a:rPr lang="en-US" sz="130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qué</a:t>
            </a:r>
            <a:r>
              <a:rPr lang="en-US" sz="1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corregiste</a:t>
            </a:r>
            <a:r>
              <a:rPr lang="en-US" sz="1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.</a:t>
            </a:r>
            <a:endParaRPr lang="en-US" sz="1300" dirty="0">
              <a:solidFill>
                <a:schemeClr val="bg1"/>
              </a:solidFill>
            </a:endParaRPr>
          </a:p>
          <a:p>
            <a:pPr marL="190500" indent="-1905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Sin </a:t>
            </a:r>
            <a:r>
              <a:rPr lang="en-US" sz="130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bitácora</a:t>
            </a:r>
            <a:r>
              <a:rPr lang="en-US" sz="1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 de prompts </a:t>
            </a:r>
            <a:r>
              <a:rPr lang="en-US" sz="130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el</a:t>
            </a:r>
            <a:r>
              <a:rPr lang="en-US" sz="1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proyecto</a:t>
            </a:r>
            <a:r>
              <a:rPr lang="en-US" sz="1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 se </a:t>
            </a:r>
            <a:r>
              <a:rPr lang="en-US" sz="130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considera</a:t>
            </a:r>
            <a:r>
              <a:rPr lang="en-US" sz="1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incompleto</a:t>
            </a:r>
            <a:r>
              <a:rPr lang="en-US" sz="1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.</a:t>
            </a:r>
            <a:endParaRPr lang="en-US" sz="1300" dirty="0">
              <a:solidFill>
                <a:schemeClr val="bg1"/>
              </a:solidFill>
            </a:endParaRPr>
          </a:p>
          <a:p>
            <a:pPr>
              <a:spcAft>
                <a:spcPts val="800"/>
              </a:spcAft>
              <a:buSzPct val="100000"/>
            </a:pPr>
            <a:endParaRPr lang="en-US" sz="1300" dirty="0">
              <a:solidFill>
                <a:schemeClr val="bg1"/>
              </a:solidFill>
              <a:ea typeface="Calibri" pitchFamily="34" charset="-122"/>
              <a:cs typeface="Calibri" pitchFamily="34" charset="-120"/>
            </a:endParaRPr>
          </a:p>
          <a:p>
            <a:pPr lvl="7">
              <a:spcAft>
                <a:spcPts val="900"/>
              </a:spcAft>
              <a:buSzPct val="100000"/>
            </a:pPr>
            <a:endParaRPr lang="en-US" sz="1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3B45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6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Carga y limpieza</a:t>
            </a:r>
            <a:endParaRPr lang="en-US" sz="3200" dirty="0"/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500" b="1">
                <a:solidFill>
                  <a:srgbClr val="C67A55"/>
                </a:solidFill>
                <a:latin typeface="Calibri"/>
              </a:rPr>
              <a:t>1   </a:t>
            </a:r>
            <a:r>
              <a:rPr sz="1500" b="1">
                <a:solidFill>
                  <a:srgbClr val="FFFFFF"/>
                </a:solidFill>
                <a:latin typeface="Calibri"/>
              </a:rPr>
              <a:t>Carga e inspección.  </a:t>
            </a:r>
            <a:r>
              <a:rPr sz="1350">
                <a:solidFill>
                  <a:srgbClr val="D8DEDE"/>
                </a:solidFill>
                <a:latin typeface="Calibri"/>
              </a:rPr>
              <a:t>Se importó el archivo (5.008 filas, 11 variables) y se revisaron su estructura, rangos y valores faltantes.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500" b="1">
                <a:solidFill>
                  <a:srgbClr val="C67A55"/>
                </a:solidFill>
                <a:latin typeface="Calibri"/>
              </a:rPr>
              <a:t>2   </a:t>
            </a:r>
            <a:r>
              <a:rPr sz="1500" b="1">
                <a:solidFill>
                  <a:srgbClr val="FFFFFF"/>
                </a:solidFill>
                <a:latin typeface="Calibri"/>
              </a:rPr>
              <a:t>Eliminación de duplicados.  </a:t>
            </a:r>
            <a:r>
              <a:rPr sz="1350">
                <a:solidFill>
                  <a:srgbClr val="D8DEDE"/>
                </a:solidFill>
                <a:latin typeface="Calibri"/>
              </a:rPr>
              <a:t>Se detectaron y quitaron 8 filas repetidas exactas (5.008 → 5.000).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500" b="1">
                <a:solidFill>
                  <a:srgbClr val="C67A55"/>
                </a:solidFill>
                <a:latin typeface="Calibri"/>
              </a:rPr>
              <a:t>3   </a:t>
            </a:r>
            <a:r>
              <a:rPr sz="1500" b="1">
                <a:solidFill>
                  <a:srgbClr val="FFFFFF"/>
                </a:solidFill>
                <a:latin typeface="Calibri"/>
              </a:rPr>
              <a:t>Normalización de categorías.  </a:t>
            </a:r>
            <a:r>
              <a:rPr sz="1350">
                <a:solidFill>
                  <a:srgbClr val="D8DEDE"/>
                </a:solidFill>
                <a:latin typeface="Calibri"/>
              </a:rPr>
              <a:t>Se unificó la variable prioridad (mayúsculas y espacios) en 4 niveles consistentes.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500" b="1">
                <a:solidFill>
                  <a:srgbClr val="C67A55"/>
                </a:solidFill>
                <a:latin typeface="Calibri"/>
              </a:rPr>
              <a:t>4   </a:t>
            </a:r>
            <a:r>
              <a:rPr sz="1500" b="1">
                <a:solidFill>
                  <a:srgbClr val="FFFFFF"/>
                </a:solidFill>
                <a:latin typeface="Calibri"/>
              </a:rPr>
              <a:t>Corrección de tipos.  </a:t>
            </a:r>
            <a:r>
              <a:rPr sz="1350">
                <a:solidFill>
                  <a:srgbClr val="D8DEDE"/>
                </a:solidFill>
                <a:latin typeface="Calibri"/>
              </a:rPr>
              <a:t>Las variables cualitativas se convirtieron a factor; la prioridad se definió como ordinal.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500" b="1">
                <a:solidFill>
                  <a:srgbClr val="C67A55"/>
                </a:solidFill>
                <a:latin typeface="Calibri"/>
              </a:rPr>
              <a:t>5   </a:t>
            </a:r>
            <a:r>
              <a:rPr sz="1500" b="1">
                <a:solidFill>
                  <a:srgbClr val="FFFFFF"/>
                </a:solidFill>
                <a:latin typeface="Calibri"/>
              </a:rPr>
              <a:t>Valores imposibles.  </a:t>
            </a:r>
            <a:r>
              <a:rPr sz="1350">
                <a:solidFill>
                  <a:srgbClr val="D8DEDE"/>
                </a:solidFill>
                <a:latin typeface="Calibri"/>
              </a:rPr>
              <a:t>12 registros de cobertura fuera del rango 0–100 % se marcaron como faltantes.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500" b="1">
                <a:solidFill>
                  <a:srgbClr val="C67A55"/>
                </a:solidFill>
                <a:latin typeface="Calibri"/>
              </a:rPr>
              <a:t>6   </a:t>
            </a:r>
            <a:r>
              <a:rPr sz="1500" b="1">
                <a:solidFill>
                  <a:srgbClr val="FFFFFF"/>
                </a:solidFill>
                <a:latin typeface="Calibri"/>
              </a:rPr>
              <a:t>Tratamiento de faltantes.  </a:t>
            </a:r>
            <a:r>
              <a:rPr sz="1350">
                <a:solidFill>
                  <a:srgbClr val="D8DEDE"/>
                </a:solidFill>
                <a:latin typeface="Calibri"/>
              </a:rPr>
              <a:t>Se conservaron los 312 NA (sin imputar ni eliminar) para analizarlos con los datos disponibles.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500" b="1">
                <a:solidFill>
                  <a:srgbClr val="C67A55"/>
                </a:solidFill>
                <a:latin typeface="Calibri"/>
              </a:rPr>
              <a:t>7   </a:t>
            </a:r>
            <a:r>
              <a:rPr sz="1500" b="1">
                <a:solidFill>
                  <a:srgbClr val="FFFFFF"/>
                </a:solidFill>
                <a:latin typeface="Calibri"/>
              </a:rPr>
              <a:t>Exportación.  </a:t>
            </a:r>
            <a:r>
              <a:rPr sz="1350">
                <a:solidFill>
                  <a:srgbClr val="D8DEDE"/>
                </a:solidFill>
                <a:latin typeface="Calibri"/>
              </a:rPr>
              <a:t>Se guardó el conjunto limpio (devops_metrics_clean.csv) para las fases siguientes.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3B45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6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Descriptiva univariada</a:t>
            </a:r>
            <a:endParaRPr lang="en-US" sz="32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91640"/>
          <a:ext cx="11091672" cy="217627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130552"/>
                <a:gridCol w="1280160"/>
                <a:gridCol w="1280160"/>
                <a:gridCol w="1280160"/>
                <a:gridCol w="1280160"/>
                <a:gridCol w="1280160"/>
                <a:gridCol w="1280160"/>
                <a:gridCol w="1280160"/>
              </a:tblGrid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variable</a:t>
                      </a:r>
                    </a:p>
                  </a:txBody>
                  <a:tcPr marL="54864" marR="54864" marT="18288" marB="18288" anchor="ctr">
                    <a:solidFill>
                      <a:srgbClr val="2B33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media</a:t>
                      </a:r>
                    </a:p>
                  </a:txBody>
                  <a:tcPr marL="54864" marR="54864" marT="18288" marB="18288" anchor="ctr">
                    <a:solidFill>
                      <a:srgbClr val="2B33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mediana</a:t>
                      </a:r>
                    </a:p>
                  </a:txBody>
                  <a:tcPr marL="54864" marR="54864" marT="18288" marB="18288" anchor="ctr">
                    <a:solidFill>
                      <a:srgbClr val="2B33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desv_est</a:t>
                      </a:r>
                    </a:p>
                  </a:txBody>
                  <a:tcPr marL="54864" marR="54864" marT="18288" marB="18288" anchor="ctr">
                    <a:solidFill>
                      <a:srgbClr val="2B33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coef_var</a:t>
                      </a:r>
                    </a:p>
                  </a:txBody>
                  <a:tcPr marL="54864" marR="54864" marT="18288" marB="18288" anchor="ctr">
                    <a:solidFill>
                      <a:srgbClr val="2B33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rango_iq</a:t>
                      </a:r>
                    </a:p>
                  </a:txBody>
                  <a:tcPr marL="54864" marR="54864" marT="18288" marB="18288" anchor="ctr">
                    <a:solidFill>
                      <a:srgbClr val="2B33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asimetría</a:t>
                      </a:r>
                    </a:p>
                  </a:txBody>
                  <a:tcPr marL="54864" marR="54864" marT="18288" marB="18288" anchor="ctr">
                    <a:solidFill>
                      <a:srgbClr val="2B33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curtosis</a:t>
                      </a:r>
                    </a:p>
                  </a:txBody>
                  <a:tcPr marL="54864" marR="54864" marT="18288" marB="18288" anchor="ctr">
                    <a:solidFill>
                      <a:srgbClr val="2B3334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build_time_min</a:t>
                      </a:r>
                    </a:p>
                  </a:txBody>
                  <a:tcPr marL="54864" marR="54864" marT="18288" marB="18288" anchor="ctr">
                    <a:solidFill>
                      <a:srgbClr val="3B45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8.32</a:t>
                      </a:r>
                    </a:p>
                  </a:txBody>
                  <a:tcPr marL="54864" marR="54864" marT="18288" marB="18288" anchor="ctr">
                    <a:solidFill>
                      <a:srgbClr val="3B45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7.49</a:t>
                      </a:r>
                    </a:p>
                  </a:txBody>
                  <a:tcPr marL="54864" marR="54864" marT="18288" marB="18288" anchor="ctr">
                    <a:solidFill>
                      <a:srgbClr val="3B45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4.08</a:t>
                      </a:r>
                    </a:p>
                  </a:txBody>
                  <a:tcPr marL="54864" marR="54864" marT="18288" marB="18288" anchor="ctr">
                    <a:solidFill>
                      <a:srgbClr val="3B45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0.49</a:t>
                      </a:r>
                    </a:p>
                  </a:txBody>
                  <a:tcPr marL="54864" marR="54864" marT="18288" marB="18288" anchor="ctr">
                    <a:solidFill>
                      <a:srgbClr val="3B45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4.68</a:t>
                      </a:r>
                    </a:p>
                  </a:txBody>
                  <a:tcPr marL="54864" marR="54864" marT="18288" marB="18288" anchor="ctr">
                    <a:solidFill>
                      <a:srgbClr val="3B45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1.68</a:t>
                      </a:r>
                    </a:p>
                  </a:txBody>
                  <a:tcPr marL="54864" marR="54864" marT="18288" marB="18288" anchor="ctr">
                    <a:solidFill>
                      <a:srgbClr val="3B45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8.21</a:t>
                      </a:r>
                    </a:p>
                  </a:txBody>
                  <a:tcPr marL="54864" marR="54864" marT="18288" marB="18288" anchor="ctr">
                    <a:solidFill>
                      <a:srgbClr val="3B4546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deploy_time_min</a:t>
                      </a:r>
                    </a:p>
                  </a:txBody>
                  <a:tcPr marL="54864" marR="54864" marT="18288" marB="18288" anchor="ctr">
                    <a:solidFill>
                      <a:srgbClr val="343D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3.60</a:t>
                      </a:r>
                    </a:p>
                  </a:txBody>
                  <a:tcPr marL="54864" marR="54864" marT="18288" marB="18288" anchor="ctr">
                    <a:solidFill>
                      <a:srgbClr val="343D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3.35</a:t>
                      </a:r>
                    </a:p>
                  </a:txBody>
                  <a:tcPr marL="54864" marR="54864" marT="18288" marB="18288" anchor="ctr">
                    <a:solidFill>
                      <a:srgbClr val="343D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1.46</a:t>
                      </a:r>
                    </a:p>
                  </a:txBody>
                  <a:tcPr marL="54864" marR="54864" marT="18288" marB="18288" anchor="ctr">
                    <a:solidFill>
                      <a:srgbClr val="343D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0.41</a:t>
                      </a:r>
                    </a:p>
                  </a:txBody>
                  <a:tcPr marL="54864" marR="54864" marT="18288" marB="18288" anchor="ctr">
                    <a:solidFill>
                      <a:srgbClr val="343D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1.77</a:t>
                      </a:r>
                    </a:p>
                  </a:txBody>
                  <a:tcPr marL="54864" marR="54864" marT="18288" marB="18288" anchor="ctr">
                    <a:solidFill>
                      <a:srgbClr val="343D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1.30</a:t>
                      </a:r>
                    </a:p>
                  </a:txBody>
                  <a:tcPr marL="54864" marR="54864" marT="18288" marB="18288" anchor="ctr">
                    <a:solidFill>
                      <a:srgbClr val="343D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6.53</a:t>
                      </a:r>
                    </a:p>
                  </a:txBody>
                  <a:tcPr marL="54864" marR="54864" marT="18288" marB="18288" anchor="ctr">
                    <a:solidFill>
                      <a:srgbClr val="343D3E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commit_size_loc</a:t>
                      </a:r>
                    </a:p>
                  </a:txBody>
                  <a:tcPr marL="54864" marR="54864" marT="18288" marB="18288" anchor="ctr">
                    <a:solidFill>
                      <a:srgbClr val="3B45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139.09</a:t>
                      </a:r>
                    </a:p>
                  </a:txBody>
                  <a:tcPr marL="54864" marR="54864" marT="18288" marB="18288" anchor="ctr">
                    <a:solidFill>
                      <a:srgbClr val="3B45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114.00</a:t>
                      </a:r>
                    </a:p>
                  </a:txBody>
                  <a:tcPr marL="54864" marR="54864" marT="18288" marB="18288" anchor="ctr">
                    <a:solidFill>
                      <a:srgbClr val="3B45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100.50</a:t>
                      </a:r>
                    </a:p>
                  </a:txBody>
                  <a:tcPr marL="54864" marR="54864" marT="18288" marB="18288" anchor="ctr">
                    <a:solidFill>
                      <a:srgbClr val="3B45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0.72</a:t>
                      </a:r>
                    </a:p>
                  </a:txBody>
                  <a:tcPr marL="54864" marR="54864" marT="18288" marB="18288" anchor="ctr">
                    <a:solidFill>
                      <a:srgbClr val="3B45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120.00</a:t>
                      </a:r>
                    </a:p>
                  </a:txBody>
                  <a:tcPr marL="54864" marR="54864" marT="18288" marB="18288" anchor="ctr">
                    <a:solidFill>
                      <a:srgbClr val="3B45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1.44</a:t>
                      </a:r>
                    </a:p>
                  </a:txBody>
                  <a:tcPr marL="54864" marR="54864" marT="18288" marB="18288" anchor="ctr">
                    <a:solidFill>
                      <a:srgbClr val="3B45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5.72</a:t>
                      </a:r>
                    </a:p>
                  </a:txBody>
                  <a:tcPr marL="54864" marR="54864" marT="18288" marB="18288" anchor="ctr">
                    <a:solidFill>
                      <a:srgbClr val="3B4546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num_bugs</a:t>
                      </a:r>
                    </a:p>
                  </a:txBody>
                  <a:tcPr marL="54864" marR="54864" marT="18288" marB="18288" anchor="ctr">
                    <a:solidFill>
                      <a:srgbClr val="343D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0.91</a:t>
                      </a:r>
                    </a:p>
                  </a:txBody>
                  <a:tcPr marL="54864" marR="54864" marT="18288" marB="18288" anchor="ctr">
                    <a:solidFill>
                      <a:srgbClr val="343D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1.00</a:t>
                      </a:r>
                    </a:p>
                  </a:txBody>
                  <a:tcPr marL="54864" marR="54864" marT="18288" marB="18288" anchor="ctr">
                    <a:solidFill>
                      <a:srgbClr val="343D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1.09</a:t>
                      </a:r>
                    </a:p>
                  </a:txBody>
                  <a:tcPr marL="54864" marR="54864" marT="18288" marB="18288" anchor="ctr">
                    <a:solidFill>
                      <a:srgbClr val="343D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1.20</a:t>
                      </a:r>
                    </a:p>
                  </a:txBody>
                  <a:tcPr marL="54864" marR="54864" marT="18288" marB="18288" anchor="ctr">
                    <a:solidFill>
                      <a:srgbClr val="343D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1.00</a:t>
                      </a:r>
                    </a:p>
                  </a:txBody>
                  <a:tcPr marL="54864" marR="54864" marT="18288" marB="18288" anchor="ctr">
                    <a:solidFill>
                      <a:srgbClr val="343D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1.45</a:t>
                      </a:r>
                    </a:p>
                  </a:txBody>
                  <a:tcPr marL="54864" marR="54864" marT="18288" marB="18288" anchor="ctr">
                    <a:solidFill>
                      <a:srgbClr val="343D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5.62</a:t>
                      </a:r>
                    </a:p>
                  </a:txBody>
                  <a:tcPr marL="54864" marR="54864" marT="18288" marB="18288" anchor="ctr">
                    <a:solidFill>
                      <a:srgbClr val="343D3E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test_coverage_pct</a:t>
                      </a:r>
                    </a:p>
                  </a:txBody>
                  <a:tcPr marL="54864" marR="54864" marT="18288" marB="18288" anchor="ctr">
                    <a:solidFill>
                      <a:srgbClr val="3B45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84.48</a:t>
                      </a:r>
                    </a:p>
                  </a:txBody>
                  <a:tcPr marL="54864" marR="54864" marT="18288" marB="18288" anchor="ctr">
                    <a:solidFill>
                      <a:srgbClr val="3B45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85.80</a:t>
                      </a:r>
                    </a:p>
                  </a:txBody>
                  <a:tcPr marL="54864" marR="54864" marT="18288" marB="18288" anchor="ctr">
                    <a:solidFill>
                      <a:srgbClr val="3B45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8.42</a:t>
                      </a:r>
                    </a:p>
                  </a:txBody>
                  <a:tcPr marL="54864" marR="54864" marT="18288" marB="18288" anchor="ctr">
                    <a:solidFill>
                      <a:srgbClr val="3B45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0.10</a:t>
                      </a:r>
                    </a:p>
                  </a:txBody>
                  <a:tcPr marL="54864" marR="54864" marT="18288" marB="18288" anchor="ctr">
                    <a:solidFill>
                      <a:srgbClr val="3B45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11.75</a:t>
                      </a:r>
                    </a:p>
                  </a:txBody>
                  <a:tcPr marL="54864" marR="54864" marT="18288" marB="18288" anchor="ctr">
                    <a:solidFill>
                      <a:srgbClr val="3B45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-0.71</a:t>
                      </a:r>
                    </a:p>
                  </a:txBody>
                  <a:tcPr marL="54864" marR="54864" marT="18288" marB="18288" anchor="ctr">
                    <a:solidFill>
                      <a:srgbClr val="3B45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3.13</a:t>
                      </a:r>
                    </a:p>
                  </a:txBody>
                  <a:tcPr marL="54864" marR="54864" marT="18288" marB="18288" anchor="ctr">
                    <a:solidFill>
                      <a:srgbClr val="3B4546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ticket_resolution_h</a:t>
                      </a:r>
                    </a:p>
                  </a:txBody>
                  <a:tcPr marL="54864" marR="54864" marT="18288" marB="18288" anchor="ctr">
                    <a:solidFill>
                      <a:srgbClr val="343D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8.82</a:t>
                      </a:r>
                    </a:p>
                  </a:txBody>
                  <a:tcPr marL="54864" marR="54864" marT="18288" marB="18288" anchor="ctr">
                    <a:solidFill>
                      <a:srgbClr val="343D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6.70</a:t>
                      </a:r>
                    </a:p>
                  </a:txBody>
                  <a:tcPr marL="54864" marR="54864" marT="18288" marB="18288" anchor="ctr">
                    <a:solidFill>
                      <a:srgbClr val="343D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7.48</a:t>
                      </a:r>
                    </a:p>
                  </a:txBody>
                  <a:tcPr marL="54864" marR="54864" marT="18288" marB="18288" anchor="ctr">
                    <a:solidFill>
                      <a:srgbClr val="343D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0.85</a:t>
                      </a:r>
                    </a:p>
                  </a:txBody>
                  <a:tcPr marL="54864" marR="54864" marT="18288" marB="18288" anchor="ctr">
                    <a:solidFill>
                      <a:srgbClr val="343D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7.03</a:t>
                      </a:r>
                    </a:p>
                  </a:txBody>
                  <a:tcPr marL="54864" marR="54864" marT="18288" marB="18288" anchor="ctr">
                    <a:solidFill>
                      <a:srgbClr val="343D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2.73</a:t>
                      </a:r>
                    </a:p>
                  </a:txBody>
                  <a:tcPr marL="54864" marR="54864" marT="18288" marB="18288" anchor="ctr">
                    <a:solidFill>
                      <a:srgbClr val="343D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16.14</a:t>
                      </a:r>
                    </a:p>
                  </a:txBody>
                  <a:tcPr marL="54864" marR="54864" marT="18288" marB="18288" anchor="ctr">
                    <a:solidFill>
                      <a:srgbClr val="343D3E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526280"/>
            <a:ext cx="110642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 b="1">
                <a:solidFill>
                  <a:srgbClr val="C67A55"/>
                </a:solidFill>
                <a:latin typeface="Calibri"/>
              </a:rPr>
              <a:t>•  </a:t>
            </a:r>
            <a:r>
              <a:rPr sz="1300">
                <a:solidFill>
                  <a:srgbClr val="D8DEDE"/>
                </a:solidFill>
                <a:latin typeface="Calibri"/>
              </a:rPr>
              <a:t>La mayoría de las variables tienen asimetría positiva: la media supera a la mediana (sesgo hacia la derecha).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 b="1">
                <a:solidFill>
                  <a:srgbClr val="C67A55"/>
                </a:solidFill>
                <a:latin typeface="Calibri"/>
              </a:rPr>
              <a:t>•  </a:t>
            </a:r>
            <a:r>
              <a:rPr sz="1300">
                <a:solidFill>
                  <a:srgbClr val="D8DEDE"/>
                </a:solidFill>
                <a:latin typeface="Calibri"/>
              </a:rPr>
              <a:t>ticket_resolution_h es la más sesgada y con más valores atípicos (curtosis 16.14); test_coverage_pct es la más simétrica y homogénea.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 b="1">
                <a:solidFill>
                  <a:srgbClr val="C67A55"/>
                </a:solidFill>
                <a:latin typeface="Calibri"/>
              </a:rPr>
              <a:t>•  </a:t>
            </a:r>
            <a:r>
              <a:rPr sz="1300">
                <a:solidFill>
                  <a:srgbClr val="D8DEDE"/>
                </a:solidFill>
                <a:latin typeface="Calibri"/>
              </a:rPr>
              <a:t>Las más irregulares (mayor coeficiente de variación) son num_bugs y commit_size_loc.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3B45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6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Frecuencias y agrupación</a:t>
            </a:r>
            <a:endParaRPr lang="en-US" sz="32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737360"/>
          <a:ext cx="3840480" cy="384048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737360"/>
                <a:gridCol w="960120"/>
                <a:gridCol w="1143000"/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clase (min)</a:t>
                      </a:r>
                    </a:p>
                  </a:txBody>
                  <a:tcPr marL="73152" marR="73152" marT="0" marB="0" anchor="ctr">
                    <a:solidFill>
                      <a:srgbClr val="2B33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fa</a:t>
                      </a:r>
                    </a:p>
                  </a:txBody>
                  <a:tcPr marL="73152" marR="73152" marT="0" marB="0" anchor="ctr">
                    <a:solidFill>
                      <a:srgbClr val="2B33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fr</a:t>
                      </a:r>
                    </a:p>
                  </a:txBody>
                  <a:tcPr marL="73152" marR="73152" marT="0" marB="0" anchor="ctr">
                    <a:solidFill>
                      <a:srgbClr val="2B333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  <a:latin typeface="Calibri"/>
                        </a:rPr>
                        <a:t>1.25 – 4.15</a:t>
                      </a:r>
                    </a:p>
                  </a:txBody>
                  <a:tcPr marL="73152" marR="73152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494</a:t>
                      </a:r>
                    </a:p>
                  </a:txBody>
                  <a:tcPr marL="73152" marR="73152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0.099</a:t>
                      </a:r>
                    </a:p>
                  </a:txBody>
                  <a:tcPr marL="73152" marR="73152" marT="0" marB="0" anchor="ctr">
                    <a:solidFill>
                      <a:srgbClr val="3B454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B3334"/>
                          </a:solidFill>
                          <a:latin typeface="Calibri"/>
                        </a:rPr>
                        <a:t>4.15 – 7.01</a:t>
                      </a:r>
                    </a:p>
                  </a:txBody>
                  <a:tcPr marL="73152" marR="73152" marT="0" marB="0" anchor="ctr">
                    <a:solidFill>
                      <a:srgbClr val="C67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B3334"/>
                          </a:solidFill>
                          <a:latin typeface="Calibri"/>
                        </a:rPr>
                        <a:t>1703</a:t>
                      </a:r>
                    </a:p>
                  </a:txBody>
                  <a:tcPr marL="73152" marR="73152" marT="0" marB="0" anchor="ctr">
                    <a:solidFill>
                      <a:srgbClr val="C67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B3334"/>
                          </a:solidFill>
                          <a:latin typeface="Calibri"/>
                        </a:rPr>
                        <a:t>0.341</a:t>
                      </a:r>
                    </a:p>
                  </a:txBody>
                  <a:tcPr marL="73152" marR="73152" marT="0" marB="0" anchor="ctr">
                    <a:solidFill>
                      <a:srgbClr val="C67A5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  <a:latin typeface="Calibri"/>
                        </a:rPr>
                        <a:t>7.01 – 9.86</a:t>
                      </a:r>
                    </a:p>
                  </a:txBody>
                  <a:tcPr marL="73152" marR="73152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1436</a:t>
                      </a:r>
                    </a:p>
                  </a:txBody>
                  <a:tcPr marL="73152" marR="73152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0.287</a:t>
                      </a:r>
                    </a:p>
                  </a:txBody>
                  <a:tcPr marL="73152" marR="73152" marT="0" marB="0" anchor="ctr">
                    <a:solidFill>
                      <a:srgbClr val="3B454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  <a:latin typeface="Calibri"/>
                        </a:rPr>
                        <a:t>9.86 – 12.7</a:t>
                      </a:r>
                    </a:p>
                  </a:txBody>
                  <a:tcPr marL="73152" marR="73152" marT="0" marB="0" anchor="ctr">
                    <a:solidFill>
                      <a:srgbClr val="343D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766</a:t>
                      </a:r>
                    </a:p>
                  </a:txBody>
                  <a:tcPr marL="73152" marR="73152" marT="0" marB="0" anchor="ctr">
                    <a:solidFill>
                      <a:srgbClr val="343D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0.153</a:t>
                      </a:r>
                    </a:p>
                  </a:txBody>
                  <a:tcPr marL="73152" marR="73152" marT="0" marB="0" anchor="ctr">
                    <a:solidFill>
                      <a:srgbClr val="343D3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  <a:latin typeface="Calibri"/>
                        </a:rPr>
                        <a:t>12.7 – 15.6</a:t>
                      </a:r>
                    </a:p>
                  </a:txBody>
                  <a:tcPr marL="73152" marR="73152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320</a:t>
                      </a:r>
                    </a:p>
                  </a:txBody>
                  <a:tcPr marL="73152" marR="73152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0.064</a:t>
                      </a:r>
                    </a:p>
                  </a:txBody>
                  <a:tcPr marL="73152" marR="73152" marT="0" marB="0" anchor="ctr">
                    <a:solidFill>
                      <a:srgbClr val="3B454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  <a:latin typeface="Calibri"/>
                        </a:rPr>
                        <a:t>15.6 – 18.4</a:t>
                      </a:r>
                    </a:p>
                  </a:txBody>
                  <a:tcPr marL="73152" marR="73152" marT="0" marB="0" anchor="ctr">
                    <a:solidFill>
                      <a:srgbClr val="343D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148</a:t>
                      </a:r>
                    </a:p>
                  </a:txBody>
                  <a:tcPr marL="73152" marR="73152" marT="0" marB="0" anchor="ctr">
                    <a:solidFill>
                      <a:srgbClr val="343D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0.030</a:t>
                      </a:r>
                    </a:p>
                  </a:txBody>
                  <a:tcPr marL="73152" marR="73152" marT="0" marB="0" anchor="ctr">
                    <a:solidFill>
                      <a:srgbClr val="343D3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  <a:latin typeface="Calibri"/>
                        </a:rPr>
                        <a:t>18.4 – 21.3</a:t>
                      </a:r>
                    </a:p>
                  </a:txBody>
                  <a:tcPr marL="73152" marR="73152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68</a:t>
                      </a:r>
                    </a:p>
                  </a:txBody>
                  <a:tcPr marL="73152" marR="73152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0.014</a:t>
                      </a:r>
                    </a:p>
                  </a:txBody>
                  <a:tcPr marL="73152" marR="73152" marT="0" marB="0" anchor="ctr">
                    <a:solidFill>
                      <a:srgbClr val="3B454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  <a:latin typeface="Calibri"/>
                        </a:rPr>
                        <a:t>21.3 – 24.2</a:t>
                      </a:r>
                    </a:p>
                  </a:txBody>
                  <a:tcPr marL="73152" marR="73152" marT="0" marB="0" anchor="ctr">
                    <a:solidFill>
                      <a:srgbClr val="343D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31</a:t>
                      </a:r>
                    </a:p>
                  </a:txBody>
                  <a:tcPr marL="73152" marR="73152" marT="0" marB="0" anchor="ctr">
                    <a:solidFill>
                      <a:srgbClr val="343D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0.006</a:t>
                      </a:r>
                    </a:p>
                  </a:txBody>
                  <a:tcPr marL="73152" marR="73152" marT="0" marB="0" anchor="ctr">
                    <a:solidFill>
                      <a:srgbClr val="343D3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  <a:latin typeface="Calibri"/>
                        </a:rPr>
                        <a:t>24.2 – 27</a:t>
                      </a:r>
                    </a:p>
                  </a:txBody>
                  <a:tcPr marL="73152" marR="73152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marL="73152" marR="73152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0.003</a:t>
                      </a:r>
                    </a:p>
                  </a:txBody>
                  <a:tcPr marL="73152" marR="73152" marT="0" marB="0" anchor="ctr">
                    <a:solidFill>
                      <a:srgbClr val="3B454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  <a:latin typeface="Calibri"/>
                        </a:rPr>
                        <a:t>27 – 29.9</a:t>
                      </a:r>
                    </a:p>
                  </a:txBody>
                  <a:tcPr marL="73152" marR="73152" marT="0" marB="0" anchor="ctr">
                    <a:solidFill>
                      <a:srgbClr val="343D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marL="73152" marR="73152" marT="0" marB="0" anchor="ctr">
                    <a:solidFill>
                      <a:srgbClr val="343D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0.002</a:t>
                      </a:r>
                    </a:p>
                  </a:txBody>
                  <a:tcPr marL="73152" marR="73152" marT="0" marB="0" anchor="ctr">
                    <a:solidFill>
                      <a:srgbClr val="343D3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  <a:latin typeface="Calibri"/>
                        </a:rPr>
                        <a:t>29.9 – 32.7</a:t>
                      </a:r>
                    </a:p>
                  </a:txBody>
                  <a:tcPr marL="73152" marR="73152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73152" marR="73152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0.001</a:t>
                      </a:r>
                    </a:p>
                  </a:txBody>
                  <a:tcPr marL="73152" marR="73152" marT="0" marB="0" anchor="ctr">
                    <a:solidFill>
                      <a:srgbClr val="3B454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  <a:latin typeface="Calibri"/>
                        </a:rPr>
                        <a:t>32.7 – 35.6</a:t>
                      </a:r>
                    </a:p>
                  </a:txBody>
                  <a:tcPr marL="73152" marR="73152" marT="0" marB="0" anchor="ctr">
                    <a:solidFill>
                      <a:srgbClr val="343D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0" marB="0" anchor="ctr">
                    <a:solidFill>
                      <a:srgbClr val="343D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0.000</a:t>
                      </a:r>
                    </a:p>
                  </a:txBody>
                  <a:tcPr marL="73152" marR="73152" marT="0" marB="0" anchor="ctr">
                    <a:solidFill>
                      <a:srgbClr val="343D3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  <a:latin typeface="Calibri"/>
                        </a:rPr>
                        <a:t>38.4 – 41.3</a:t>
                      </a:r>
                    </a:p>
                  </a:txBody>
                  <a:tcPr marL="73152" marR="73152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0.000</a:t>
                      </a:r>
                    </a:p>
                  </a:txBody>
                  <a:tcPr marL="73152" marR="73152" marT="0" marB="0" anchor="ctr">
                    <a:solidFill>
                      <a:srgbClr val="3B4546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892040" y="1874519"/>
            <a:ext cx="6675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 b="1">
                <a:solidFill>
                  <a:srgbClr val="C67A55"/>
                </a:solidFill>
                <a:latin typeface="Calibri"/>
              </a:rPr>
              <a:t>En palabras simples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500" b="1">
                <a:solidFill>
                  <a:srgbClr val="C67A55"/>
                </a:solidFill>
                <a:latin typeface="Calibri"/>
              </a:rPr>
              <a:t>•  </a:t>
            </a:r>
            <a:r>
              <a:rPr sz="1500">
                <a:solidFill>
                  <a:srgbClr val="D8DEDE"/>
                </a:solidFill>
                <a:latin typeface="Calibri"/>
              </a:rPr>
              <a:t>Lo más común es que un build tarde entre 4 y 7 minutos (fila naranja): 1.703 casos, la clase con más datos.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500" b="1">
                <a:solidFill>
                  <a:srgbClr val="C67A55"/>
                </a:solidFill>
                <a:latin typeface="Calibri"/>
              </a:rPr>
              <a:t>•  </a:t>
            </a:r>
            <a:r>
              <a:rPr sz="1500">
                <a:solidFill>
                  <a:srgbClr val="D8DEDE"/>
                </a:solidFill>
                <a:latin typeface="Calibri"/>
              </a:rPr>
              <a:t>Casi 3 de cada 4 builds terminan en menos de 10 minutos.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500" b="1">
                <a:solidFill>
                  <a:srgbClr val="C67A55"/>
                </a:solidFill>
                <a:latin typeface="Calibri"/>
              </a:rPr>
              <a:t>•  </a:t>
            </a:r>
            <a:r>
              <a:rPr sz="1500">
                <a:solidFill>
                  <a:srgbClr val="D8DEDE"/>
                </a:solidFill>
                <a:latin typeface="Calibri"/>
              </a:rPr>
              <a:t>Muy pocos builds superan los 18 minutos: son los casos lentos y poco frecuentes.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3B45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6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4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Análisis por grupos</a:t>
            </a:r>
            <a:endParaRPr lang="en-US" sz="32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2148840"/>
          <a:ext cx="5257800" cy="182880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234440"/>
                <a:gridCol w="777240"/>
                <a:gridCol w="1051560"/>
                <a:gridCol w="1097280"/>
                <a:gridCol w="109728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prioridad</a:t>
                      </a:r>
                    </a:p>
                  </a:txBody>
                  <a:tcPr marL="73152" marR="73152" marT="0" marB="0" anchor="ctr">
                    <a:solidFill>
                      <a:srgbClr val="2B33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n</a:t>
                      </a:r>
                    </a:p>
                  </a:txBody>
                  <a:tcPr marL="73152" marR="73152" marT="0" marB="0" anchor="ctr">
                    <a:solidFill>
                      <a:srgbClr val="2B33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build md</a:t>
                      </a:r>
                    </a:p>
                  </a:txBody>
                  <a:tcPr marL="73152" marR="73152" marT="0" marB="0" anchor="ctr">
                    <a:solidFill>
                      <a:srgbClr val="2B33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bugs prom</a:t>
                      </a:r>
                    </a:p>
                  </a:txBody>
                  <a:tcPr marL="73152" marR="73152" marT="0" marB="0" anchor="ctr">
                    <a:solidFill>
                      <a:srgbClr val="2B33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tasa fallos</a:t>
                      </a:r>
                    </a:p>
                  </a:txBody>
                  <a:tcPr marL="73152" marR="73152" marT="0" marB="0" anchor="ctr">
                    <a:solidFill>
                      <a:srgbClr val="2B333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baja</a:t>
                      </a:r>
                    </a:p>
                  </a:txBody>
                  <a:tcPr marL="73152" marR="73152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D8DEDE"/>
                          </a:solidFill>
                          <a:latin typeface="Calibri"/>
                        </a:rPr>
                        <a:t>1533</a:t>
                      </a:r>
                    </a:p>
                  </a:txBody>
                  <a:tcPr marL="73152" marR="73152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D8DEDE"/>
                          </a:solidFill>
                          <a:latin typeface="Calibri"/>
                        </a:rPr>
                        <a:t>7.49</a:t>
                      </a:r>
                    </a:p>
                  </a:txBody>
                  <a:tcPr marL="73152" marR="73152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D8DEDE"/>
                          </a:solidFill>
                          <a:latin typeface="Calibri"/>
                        </a:rPr>
                        <a:t>0.57</a:t>
                      </a:r>
                    </a:p>
                  </a:txBody>
                  <a:tcPr marL="73152" marR="73152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D8DEDE"/>
                          </a:solidFill>
                          <a:latin typeface="Calibri"/>
                        </a:rPr>
                        <a:t>0.034</a:t>
                      </a:r>
                    </a:p>
                  </a:txBody>
                  <a:tcPr marL="73152" marR="73152" marT="0" marB="0" anchor="ctr">
                    <a:solidFill>
                      <a:srgbClr val="3B454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media</a:t>
                      </a:r>
                    </a:p>
                  </a:txBody>
                  <a:tcPr marL="73152" marR="73152" marT="0" marB="0" anchor="ctr">
                    <a:solidFill>
                      <a:srgbClr val="343D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D8DEDE"/>
                          </a:solidFill>
                          <a:latin typeface="Calibri"/>
                        </a:rPr>
                        <a:t>1921</a:t>
                      </a:r>
                    </a:p>
                  </a:txBody>
                  <a:tcPr marL="73152" marR="73152" marT="0" marB="0" anchor="ctr">
                    <a:solidFill>
                      <a:srgbClr val="343D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D8DEDE"/>
                          </a:solidFill>
                          <a:latin typeface="Calibri"/>
                        </a:rPr>
                        <a:t>7.47</a:t>
                      </a:r>
                    </a:p>
                  </a:txBody>
                  <a:tcPr marL="73152" marR="73152" marT="0" marB="0" anchor="ctr">
                    <a:solidFill>
                      <a:srgbClr val="343D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D8DEDE"/>
                          </a:solidFill>
                          <a:latin typeface="Calibri"/>
                        </a:rPr>
                        <a:t>0.86</a:t>
                      </a:r>
                    </a:p>
                  </a:txBody>
                  <a:tcPr marL="73152" marR="73152" marT="0" marB="0" anchor="ctr">
                    <a:solidFill>
                      <a:srgbClr val="343D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D8DEDE"/>
                          </a:solidFill>
                          <a:latin typeface="Calibri"/>
                        </a:rPr>
                        <a:t>0.030</a:t>
                      </a:r>
                    </a:p>
                  </a:txBody>
                  <a:tcPr marL="73152" marR="73152" marT="0" marB="0" anchor="ctr">
                    <a:solidFill>
                      <a:srgbClr val="343D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alta</a:t>
                      </a:r>
                    </a:p>
                  </a:txBody>
                  <a:tcPr marL="73152" marR="73152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D8DEDE"/>
                          </a:solidFill>
                          <a:latin typeface="Calibri"/>
                        </a:rPr>
                        <a:t>1063</a:t>
                      </a:r>
                    </a:p>
                  </a:txBody>
                  <a:tcPr marL="73152" marR="73152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D8DEDE"/>
                          </a:solidFill>
                          <a:latin typeface="Calibri"/>
                        </a:rPr>
                        <a:t>7.56</a:t>
                      </a:r>
                    </a:p>
                  </a:txBody>
                  <a:tcPr marL="73152" marR="73152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D8DEDE"/>
                          </a:solidFill>
                          <a:latin typeface="Calibri"/>
                        </a:rPr>
                        <a:t>1.19</a:t>
                      </a:r>
                    </a:p>
                  </a:txBody>
                  <a:tcPr marL="73152" marR="73152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D8DEDE"/>
                          </a:solidFill>
                          <a:latin typeface="Calibri"/>
                        </a:rPr>
                        <a:t>0.048</a:t>
                      </a:r>
                    </a:p>
                  </a:txBody>
                  <a:tcPr marL="73152" marR="73152" marT="0" marB="0" anchor="ctr">
                    <a:solidFill>
                      <a:srgbClr val="3B454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critica</a:t>
                      </a:r>
                    </a:p>
                  </a:txBody>
                  <a:tcPr marL="73152" marR="73152" marT="0" marB="0" anchor="ctr">
                    <a:solidFill>
                      <a:srgbClr val="343D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D8DEDE"/>
                          </a:solidFill>
                          <a:latin typeface="Calibri"/>
                        </a:rPr>
                        <a:t>483</a:t>
                      </a:r>
                    </a:p>
                  </a:txBody>
                  <a:tcPr marL="73152" marR="73152" marT="0" marB="0" anchor="ctr">
                    <a:solidFill>
                      <a:srgbClr val="343D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D8DEDE"/>
                          </a:solidFill>
                          <a:latin typeface="Calibri"/>
                        </a:rPr>
                        <a:t>7.32</a:t>
                      </a:r>
                    </a:p>
                  </a:txBody>
                  <a:tcPr marL="73152" marR="73152" marT="0" marB="0" anchor="ctr">
                    <a:solidFill>
                      <a:srgbClr val="343D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D8DEDE"/>
                          </a:solidFill>
                          <a:latin typeface="Calibri"/>
                        </a:rPr>
                        <a:t>1.51</a:t>
                      </a:r>
                    </a:p>
                  </a:txBody>
                  <a:tcPr marL="73152" marR="73152" marT="0" marB="0" anchor="ctr">
                    <a:solidFill>
                      <a:srgbClr val="343D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D8DEDE"/>
                          </a:solidFill>
                          <a:latin typeface="Calibri"/>
                        </a:rPr>
                        <a:t>0.064</a:t>
                      </a:r>
                    </a:p>
                  </a:txBody>
                  <a:tcPr marL="73152" marR="73152" marT="0" marB="0" anchor="ctr">
                    <a:solidFill>
                      <a:srgbClr val="343D3E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160520"/>
            <a:ext cx="5257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9AA3A4"/>
                </a:solidFill>
                <a:latin typeface="Calibri"/>
              </a:rPr>
              <a:t>build md = mediana del tiempo de build (min)  ·  tasa fallos = proporción de deploy fallidos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72200" y="1874519"/>
            <a:ext cx="5394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 b="1">
                <a:solidFill>
                  <a:srgbClr val="C67A55"/>
                </a:solidFill>
                <a:latin typeface="Calibri"/>
              </a:rPr>
              <a:t>Hallazgos principales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400" b="1">
                <a:solidFill>
                  <a:srgbClr val="C67A55"/>
                </a:solidFill>
                <a:latin typeface="Calibri"/>
              </a:rPr>
              <a:t>•  </a:t>
            </a:r>
            <a:r>
              <a:rPr sz="1400" b="1">
                <a:solidFill>
                  <a:srgbClr val="FFFFFF"/>
                </a:solidFill>
                <a:latin typeface="Calibri"/>
              </a:rPr>
              <a:t>Prioridad.  </a:t>
            </a:r>
            <a:r>
              <a:rPr sz="1400">
                <a:solidFill>
                  <a:srgbClr val="D8DEDE"/>
                </a:solidFill>
                <a:latin typeface="Calibri"/>
              </a:rPr>
              <a:t>a mayor prioridad, más bugs (de 0.57 en baja a 1.51 en crítica) y casi el doble de fallos. Los despliegues urgentes son más riesgosos.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400" b="1">
                <a:solidFill>
                  <a:srgbClr val="C67A55"/>
                </a:solidFill>
                <a:latin typeface="Calibri"/>
              </a:rPr>
              <a:t>•  </a:t>
            </a:r>
            <a:r>
              <a:rPr sz="1400" b="1">
                <a:solidFill>
                  <a:srgbClr val="FFFFFF"/>
                </a:solidFill>
                <a:latin typeface="Calibri"/>
              </a:rPr>
              <a:t>Equipos.  </a:t>
            </a:r>
            <a:r>
              <a:rPr sz="1400">
                <a:solidFill>
                  <a:srgbClr val="D8DEDE"/>
                </a:solidFill>
                <a:latin typeface="Calibri"/>
              </a:rPr>
              <a:t>se diferencian en velocidad, no en calidad: Gamma es el más lento (8.42 min) y Alpha el más rápido (6.76 min), con bugs y fallos similares.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400" b="1">
                <a:solidFill>
                  <a:srgbClr val="C67A55"/>
                </a:solidFill>
                <a:latin typeface="Calibri"/>
              </a:rPr>
              <a:t>•  </a:t>
            </a:r>
            <a:r>
              <a:rPr sz="1400" b="1">
                <a:solidFill>
                  <a:srgbClr val="FFFFFF"/>
                </a:solidFill>
                <a:latin typeface="Calibri"/>
              </a:rPr>
              <a:t>Módulos.  </a:t>
            </a:r>
            <a:r>
              <a:rPr sz="1400">
                <a:solidFill>
                  <a:srgbClr val="D8DEDE"/>
                </a:solidFill>
                <a:latin typeface="Calibri"/>
              </a:rPr>
              <a:t>diferencias menores; auth es el más estable y search el de mayor tasa de fallos.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3B45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6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5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Relaciones bivariadas</a:t>
            </a:r>
            <a:endParaRPr lang="en-US" sz="32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783080"/>
          <a:ext cx="5550408" cy="2112264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051560"/>
                <a:gridCol w="749808"/>
                <a:gridCol w="749808"/>
                <a:gridCol w="749808"/>
                <a:gridCol w="749808"/>
                <a:gridCol w="749808"/>
                <a:gridCol w="749808"/>
              </a:tblGrid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0" marB="0" anchor="ctr">
                    <a:solidFill>
                      <a:srgbClr val="2B33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build</a:t>
                      </a:r>
                    </a:p>
                  </a:txBody>
                  <a:tcPr marL="54864" marR="54864" marT="0" marB="0" anchor="ctr">
                    <a:solidFill>
                      <a:srgbClr val="2B33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deploy</a:t>
                      </a:r>
                    </a:p>
                  </a:txBody>
                  <a:tcPr marL="54864" marR="54864" marT="0" marB="0" anchor="ctr">
                    <a:solidFill>
                      <a:srgbClr val="2B33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commit</a:t>
                      </a:r>
                    </a:p>
                  </a:txBody>
                  <a:tcPr marL="54864" marR="54864" marT="0" marB="0" anchor="ctr">
                    <a:solidFill>
                      <a:srgbClr val="2B33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bugs</a:t>
                      </a:r>
                    </a:p>
                  </a:txBody>
                  <a:tcPr marL="54864" marR="54864" marT="0" marB="0" anchor="ctr">
                    <a:solidFill>
                      <a:srgbClr val="2B33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cobert.</a:t>
                      </a:r>
                    </a:p>
                  </a:txBody>
                  <a:tcPr marL="54864" marR="54864" marT="0" marB="0" anchor="ctr">
                    <a:solidFill>
                      <a:srgbClr val="2B33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ticket</a:t>
                      </a:r>
                    </a:p>
                  </a:txBody>
                  <a:tcPr marL="54864" marR="54864" marT="0" marB="0" anchor="ctr">
                    <a:solidFill>
                      <a:srgbClr val="2B3334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build</a:t>
                      </a:r>
                    </a:p>
                  </a:txBody>
                  <a:tcPr marL="54864" marR="54864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1.00</a:t>
                      </a:r>
                    </a:p>
                  </a:txBody>
                  <a:tcPr marL="54864" marR="54864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0.03</a:t>
                      </a:r>
                    </a:p>
                  </a:txBody>
                  <a:tcPr marL="54864" marR="54864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0.04</a:t>
                      </a:r>
                    </a:p>
                  </a:txBody>
                  <a:tcPr marL="54864" marR="54864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0.01</a:t>
                      </a:r>
                    </a:p>
                  </a:txBody>
                  <a:tcPr marL="54864" marR="54864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0.03</a:t>
                      </a:r>
                    </a:p>
                  </a:txBody>
                  <a:tcPr marL="54864" marR="54864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0.01</a:t>
                      </a:r>
                    </a:p>
                  </a:txBody>
                  <a:tcPr marL="54864" marR="54864" marT="0" marB="0" anchor="ctr">
                    <a:solidFill>
                      <a:srgbClr val="3B4546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deploy</a:t>
                      </a:r>
                    </a:p>
                  </a:txBody>
                  <a:tcPr marL="54864" marR="54864" marT="0" marB="0" anchor="ctr">
                    <a:solidFill>
                      <a:srgbClr val="343D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0.03</a:t>
                      </a:r>
                    </a:p>
                  </a:txBody>
                  <a:tcPr marL="54864" marR="54864" marT="0" marB="0" anchor="ctr">
                    <a:solidFill>
                      <a:srgbClr val="343D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1.00</a:t>
                      </a:r>
                    </a:p>
                  </a:txBody>
                  <a:tcPr marL="54864" marR="54864" marT="0" marB="0" anchor="ctr">
                    <a:solidFill>
                      <a:srgbClr val="343D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0.01</a:t>
                      </a:r>
                    </a:p>
                  </a:txBody>
                  <a:tcPr marL="54864" marR="54864" marT="0" marB="0" anchor="ctr">
                    <a:solidFill>
                      <a:srgbClr val="343D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0.00</a:t>
                      </a:r>
                    </a:p>
                  </a:txBody>
                  <a:tcPr marL="54864" marR="54864" marT="0" marB="0" anchor="ctr">
                    <a:solidFill>
                      <a:srgbClr val="343D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0.00</a:t>
                      </a:r>
                    </a:p>
                  </a:txBody>
                  <a:tcPr marL="54864" marR="54864" marT="0" marB="0" anchor="ctr">
                    <a:solidFill>
                      <a:srgbClr val="343D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0.01</a:t>
                      </a:r>
                    </a:p>
                  </a:txBody>
                  <a:tcPr marL="54864" marR="54864" marT="0" marB="0" anchor="ctr">
                    <a:solidFill>
                      <a:srgbClr val="343D3E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commit</a:t>
                      </a:r>
                    </a:p>
                  </a:txBody>
                  <a:tcPr marL="54864" marR="54864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0.04</a:t>
                      </a:r>
                    </a:p>
                  </a:txBody>
                  <a:tcPr marL="54864" marR="54864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0.01</a:t>
                      </a:r>
                    </a:p>
                  </a:txBody>
                  <a:tcPr marL="54864" marR="54864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1.00</a:t>
                      </a:r>
                    </a:p>
                  </a:txBody>
                  <a:tcPr marL="54864" marR="54864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B3334"/>
                          </a:solidFill>
                          <a:latin typeface="Calibri"/>
                        </a:rPr>
                        <a:t>0.42</a:t>
                      </a:r>
                    </a:p>
                  </a:txBody>
                  <a:tcPr marL="54864" marR="54864" marT="0" marB="0" anchor="ctr">
                    <a:solidFill>
                      <a:srgbClr val="C67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-0.01</a:t>
                      </a:r>
                    </a:p>
                  </a:txBody>
                  <a:tcPr marL="54864" marR="54864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-0.05</a:t>
                      </a:r>
                    </a:p>
                  </a:txBody>
                  <a:tcPr marL="54864" marR="54864" marT="0" marB="0" anchor="ctr">
                    <a:solidFill>
                      <a:srgbClr val="3B4546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bugs</a:t>
                      </a:r>
                    </a:p>
                  </a:txBody>
                  <a:tcPr marL="54864" marR="54864" marT="0" marB="0" anchor="ctr">
                    <a:solidFill>
                      <a:srgbClr val="343D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0.01</a:t>
                      </a:r>
                    </a:p>
                  </a:txBody>
                  <a:tcPr marL="54864" marR="54864" marT="0" marB="0" anchor="ctr">
                    <a:solidFill>
                      <a:srgbClr val="343D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0.00</a:t>
                      </a:r>
                    </a:p>
                  </a:txBody>
                  <a:tcPr marL="54864" marR="54864" marT="0" marB="0" anchor="ctr">
                    <a:solidFill>
                      <a:srgbClr val="343D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B3334"/>
                          </a:solidFill>
                          <a:latin typeface="Calibri"/>
                        </a:rPr>
                        <a:t>0.42</a:t>
                      </a:r>
                    </a:p>
                  </a:txBody>
                  <a:tcPr marL="54864" marR="54864" marT="0" marB="0" anchor="ctr">
                    <a:solidFill>
                      <a:srgbClr val="C67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1.00</a:t>
                      </a:r>
                    </a:p>
                  </a:txBody>
                  <a:tcPr marL="54864" marR="54864" marT="0" marB="0" anchor="ctr">
                    <a:solidFill>
                      <a:srgbClr val="343D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B3334"/>
                          </a:solidFill>
                          <a:latin typeface="Calibri"/>
                        </a:rPr>
                        <a:t>-0.15</a:t>
                      </a:r>
                    </a:p>
                  </a:txBody>
                  <a:tcPr marL="54864" marR="54864" marT="0" marB="0" anchor="ctr">
                    <a:solidFill>
                      <a:srgbClr val="C67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-0.08</a:t>
                      </a:r>
                    </a:p>
                  </a:txBody>
                  <a:tcPr marL="54864" marR="54864" marT="0" marB="0" anchor="ctr">
                    <a:solidFill>
                      <a:srgbClr val="343D3E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cobert.</a:t>
                      </a:r>
                    </a:p>
                  </a:txBody>
                  <a:tcPr marL="54864" marR="54864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0.03</a:t>
                      </a:r>
                    </a:p>
                  </a:txBody>
                  <a:tcPr marL="54864" marR="54864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0.00</a:t>
                      </a:r>
                    </a:p>
                  </a:txBody>
                  <a:tcPr marL="54864" marR="54864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-0.01</a:t>
                      </a:r>
                    </a:p>
                  </a:txBody>
                  <a:tcPr marL="54864" marR="54864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B3334"/>
                          </a:solidFill>
                          <a:latin typeface="Calibri"/>
                        </a:rPr>
                        <a:t>-0.15</a:t>
                      </a:r>
                    </a:p>
                  </a:txBody>
                  <a:tcPr marL="54864" marR="54864" marT="0" marB="0" anchor="ctr">
                    <a:solidFill>
                      <a:srgbClr val="C67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1.00</a:t>
                      </a:r>
                    </a:p>
                  </a:txBody>
                  <a:tcPr marL="54864" marR="54864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0.03</a:t>
                      </a:r>
                    </a:p>
                  </a:txBody>
                  <a:tcPr marL="54864" marR="54864" marT="0" marB="0" anchor="ctr">
                    <a:solidFill>
                      <a:srgbClr val="3B4546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ticket</a:t>
                      </a:r>
                    </a:p>
                  </a:txBody>
                  <a:tcPr marL="54864" marR="54864" marT="0" marB="0" anchor="ctr">
                    <a:solidFill>
                      <a:srgbClr val="343D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0.01</a:t>
                      </a:r>
                    </a:p>
                  </a:txBody>
                  <a:tcPr marL="54864" marR="54864" marT="0" marB="0" anchor="ctr">
                    <a:solidFill>
                      <a:srgbClr val="343D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0.01</a:t>
                      </a:r>
                    </a:p>
                  </a:txBody>
                  <a:tcPr marL="54864" marR="54864" marT="0" marB="0" anchor="ctr">
                    <a:solidFill>
                      <a:srgbClr val="343D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-0.05</a:t>
                      </a:r>
                    </a:p>
                  </a:txBody>
                  <a:tcPr marL="54864" marR="54864" marT="0" marB="0" anchor="ctr">
                    <a:solidFill>
                      <a:srgbClr val="343D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-0.08</a:t>
                      </a:r>
                    </a:p>
                  </a:txBody>
                  <a:tcPr marL="54864" marR="54864" marT="0" marB="0" anchor="ctr">
                    <a:solidFill>
                      <a:srgbClr val="343D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0.03</a:t>
                      </a:r>
                    </a:p>
                  </a:txBody>
                  <a:tcPr marL="54864" marR="54864" marT="0" marB="0" anchor="ctr">
                    <a:solidFill>
                      <a:srgbClr val="343D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1.00</a:t>
                      </a:r>
                    </a:p>
                  </a:txBody>
                  <a:tcPr marL="54864" marR="54864" marT="0" marB="0" anchor="ctr">
                    <a:solidFill>
                      <a:srgbClr val="343D3E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160520"/>
            <a:ext cx="5394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C67A55"/>
                </a:solidFill>
                <a:latin typeface="Calibri"/>
              </a:rPr>
              <a:t>Correlación no es causalidad: </a:t>
            </a:r>
            <a:r>
              <a:rPr sz="1300">
                <a:solidFill>
                  <a:srgbClr val="D8DEDE"/>
                </a:solidFill>
                <a:latin typeface="Calibri"/>
              </a:rPr>
              <a:t>que dos variables se muevan juntas no prueba que una cause la otra.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73736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C67A55"/>
                </a:solidFill>
                <a:latin typeface="Calibri"/>
              </a:rPr>
              <a:t>Qué se observa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300" b="1">
                <a:solidFill>
                  <a:srgbClr val="C67A55"/>
                </a:solidFill>
                <a:latin typeface="Calibri"/>
              </a:rPr>
              <a:t>•  </a:t>
            </a:r>
            <a:r>
              <a:rPr sz="1300">
                <a:solidFill>
                  <a:srgbClr val="D8DEDE"/>
                </a:solidFill>
                <a:latin typeface="Calibri"/>
              </a:rPr>
              <a:t>Relación más fuerte: commits grandes ↔ más bugs (0.42).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300" b="1">
                <a:solidFill>
                  <a:srgbClr val="C67A55"/>
                </a:solidFill>
                <a:latin typeface="Calibri"/>
              </a:rPr>
              <a:t>•  </a:t>
            </a:r>
            <a:r>
              <a:rPr sz="1300">
                <a:solidFill>
                  <a:srgbClr val="D8DEDE"/>
                </a:solidFill>
                <a:latin typeface="Calibri"/>
              </a:rPr>
              <a:t>Más cobertura de pruebas ↔ menos bugs (-0.15), relación débil.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300" b="1">
                <a:solidFill>
                  <a:srgbClr val="C67A55"/>
                </a:solidFill>
                <a:latin typeface="Calibri"/>
              </a:rPr>
              <a:t>•  </a:t>
            </a:r>
            <a:r>
              <a:rPr sz="1300">
                <a:solidFill>
                  <a:srgbClr val="D8DEDE"/>
                </a:solidFill>
                <a:latin typeface="Calibri"/>
              </a:rPr>
              <a:t>El resto de las variables son casi independientes (≈ 0).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3703320"/>
            <a:ext cx="5212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Calibri"/>
              </a:rPr>
              <a:t>Equipo × estado del deploy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0" y="3977639"/>
          <a:ext cx="4389120" cy="155448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143000"/>
                <a:gridCol w="960120"/>
                <a:gridCol w="1234440"/>
                <a:gridCol w="1051560"/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equipo</a:t>
                      </a:r>
                    </a:p>
                  </a:txBody>
                  <a:tcPr marL="54864" marR="54864" marT="0" marB="0" anchor="ctr">
                    <a:solidFill>
                      <a:srgbClr val="2B33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failed</a:t>
                      </a:r>
                    </a:p>
                  </a:txBody>
                  <a:tcPr marL="54864" marR="54864" marT="0" marB="0" anchor="ctr">
                    <a:solidFill>
                      <a:srgbClr val="2B33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rolled_back</a:t>
                      </a:r>
                    </a:p>
                  </a:txBody>
                  <a:tcPr marL="54864" marR="54864" marT="0" marB="0" anchor="ctr">
                    <a:solidFill>
                      <a:srgbClr val="2B33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success</a:t>
                      </a:r>
                    </a:p>
                  </a:txBody>
                  <a:tcPr marL="54864" marR="54864" marT="0" marB="0" anchor="ctr">
                    <a:solidFill>
                      <a:srgbClr val="2B333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Alpha</a:t>
                      </a:r>
                    </a:p>
                  </a:txBody>
                  <a:tcPr marL="54864" marR="54864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67</a:t>
                      </a:r>
                    </a:p>
                  </a:txBody>
                  <a:tcPr marL="54864" marR="54864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28</a:t>
                      </a:r>
                    </a:p>
                  </a:txBody>
                  <a:tcPr marL="54864" marR="54864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1429</a:t>
                      </a:r>
                    </a:p>
                  </a:txBody>
                  <a:tcPr marL="54864" marR="54864" marT="0" marB="0" anchor="ctr">
                    <a:solidFill>
                      <a:srgbClr val="3B4546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Beta</a:t>
                      </a:r>
                    </a:p>
                  </a:txBody>
                  <a:tcPr marL="54864" marR="54864" marT="0" marB="0" anchor="ctr">
                    <a:solidFill>
                      <a:srgbClr val="343D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51</a:t>
                      </a:r>
                    </a:p>
                  </a:txBody>
                  <a:tcPr marL="54864" marR="54864" marT="0" marB="0" anchor="ctr">
                    <a:solidFill>
                      <a:srgbClr val="343D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32</a:t>
                      </a:r>
                    </a:p>
                  </a:txBody>
                  <a:tcPr marL="54864" marR="54864" marT="0" marB="0" anchor="ctr">
                    <a:solidFill>
                      <a:srgbClr val="343D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1403</a:t>
                      </a:r>
                    </a:p>
                  </a:txBody>
                  <a:tcPr marL="54864" marR="54864" marT="0" marB="0" anchor="ctr">
                    <a:solidFill>
                      <a:srgbClr val="343D3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Delta</a:t>
                      </a:r>
                    </a:p>
                  </a:txBody>
                  <a:tcPr marL="54864" marR="54864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39</a:t>
                      </a:r>
                    </a:p>
                  </a:txBody>
                  <a:tcPr marL="54864" marR="54864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 marL="54864" marR="54864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829</a:t>
                      </a:r>
                    </a:p>
                  </a:txBody>
                  <a:tcPr marL="54864" marR="54864" marT="0" marB="0" anchor="ctr">
                    <a:solidFill>
                      <a:srgbClr val="3B4546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Gamma</a:t>
                      </a:r>
                    </a:p>
                  </a:txBody>
                  <a:tcPr marL="54864" marR="54864" marT="0" marB="0" anchor="ctr">
                    <a:solidFill>
                      <a:srgbClr val="343D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35</a:t>
                      </a:r>
                    </a:p>
                  </a:txBody>
                  <a:tcPr marL="54864" marR="54864" marT="0" marB="0" anchor="ctr">
                    <a:solidFill>
                      <a:srgbClr val="343D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 marL="54864" marR="54864" marT="0" marB="0" anchor="ctr">
                    <a:solidFill>
                      <a:srgbClr val="343D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1037</a:t>
                      </a:r>
                    </a:p>
                  </a:txBody>
                  <a:tcPr marL="54864" marR="54864" marT="0" marB="0" anchor="ctr">
                    <a:solidFill>
                      <a:srgbClr val="343D3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3B45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6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6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Visualización</a:t>
            </a:r>
            <a:endParaRPr lang="en-US" sz="3200" dirty="0"/>
          </a:p>
        </p:txBody>
      </p:sp>
      <p:pic>
        <p:nvPicPr>
          <p:cNvPr id="4" name="Picture 3" descr="g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783080"/>
            <a:ext cx="5486400" cy="2759666"/>
          </a:xfrm>
          <a:prstGeom prst="rect">
            <a:avLst/>
          </a:prstGeom>
        </p:spPr>
      </p:pic>
      <p:pic>
        <p:nvPicPr>
          <p:cNvPr id="5" name="Picture 4" descr="g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9632" y="1783080"/>
            <a:ext cx="5486400" cy="2604052"/>
          </a:xfrm>
          <a:prstGeom prst="rect">
            <a:avLst/>
          </a:prstGeom>
        </p:spPr>
      </p:pic>
      <p:pic>
        <p:nvPicPr>
          <p:cNvPr id="6" name="Picture 5" descr="g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4224528"/>
            <a:ext cx="5486400" cy="2588422"/>
          </a:xfrm>
          <a:prstGeom prst="rect">
            <a:avLst/>
          </a:prstGeom>
        </p:spPr>
      </p:pic>
      <p:pic>
        <p:nvPicPr>
          <p:cNvPr id="7" name="Picture 6" descr="g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9632" y="4224528"/>
            <a:ext cx="5486400" cy="286633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B45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6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7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Reporte reproducible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 err="1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Redactar</a:t>
            </a: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</a:t>
            </a: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</a:t>
            </a: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reproducible.</a:t>
            </a:r>
            <a:endParaRPr lang="en-US" sz="1400" dirty="0"/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300"/>
              </a:spcAft>
            </a:pPr>
            <a:r>
              <a:rPr sz="1500" b="1">
                <a:solidFill>
                  <a:srgbClr val="C67A55"/>
                </a:solidFill>
                <a:latin typeface="Calibri"/>
              </a:rPr>
              <a:t>•  </a:t>
            </a:r>
            <a:r>
              <a:rPr sz="1500" b="1">
                <a:solidFill>
                  <a:srgbClr val="FFFFFF"/>
                </a:solidFill>
                <a:latin typeface="Calibri"/>
              </a:rPr>
              <a:t>Qué es.  </a:t>
            </a:r>
            <a:r>
              <a:rPr sz="1500">
                <a:solidFill>
                  <a:srgbClr val="D8DEDE"/>
                </a:solidFill>
                <a:latin typeface="Calibri"/>
              </a:rPr>
              <a:t>un documento .Rmd que combina el código de R, sus resultados y la explicación en un solo archivo.</a:t>
            </a:r>
          </a:p>
          <a:p>
            <a:pPr>
              <a:lnSpc>
                <a:spcPct val="108000"/>
              </a:lnSpc>
              <a:spcAft>
                <a:spcPts val="1300"/>
              </a:spcAft>
            </a:pPr>
            <a:r>
              <a:rPr sz="1500" b="1">
                <a:solidFill>
                  <a:srgbClr val="C67A55"/>
                </a:solidFill>
                <a:latin typeface="Calibri"/>
              </a:rPr>
              <a:t>•  </a:t>
            </a:r>
            <a:r>
              <a:rPr sz="1500" b="1">
                <a:solidFill>
                  <a:srgbClr val="FFFFFF"/>
                </a:solidFill>
                <a:latin typeface="Calibri"/>
              </a:rPr>
              <a:t>Reproducible.  </a:t>
            </a:r>
            <a:r>
              <a:rPr sz="1500">
                <a:solidFill>
                  <a:srgbClr val="D8DEDE"/>
                </a:solidFill>
                <a:latin typeface="Calibri"/>
              </a:rPr>
              <a:t>cualquiera puede volver a generarlo (botón Knit) y obtiene exactamente los mismos resultados.</a:t>
            </a:r>
          </a:p>
          <a:p>
            <a:pPr>
              <a:lnSpc>
                <a:spcPct val="108000"/>
              </a:lnSpc>
              <a:spcAft>
                <a:spcPts val="1300"/>
              </a:spcAft>
            </a:pPr>
            <a:r>
              <a:rPr sz="1500" b="1">
                <a:solidFill>
                  <a:srgbClr val="C67A55"/>
                </a:solidFill>
                <a:latin typeface="Calibri"/>
              </a:rPr>
              <a:t>•  </a:t>
            </a:r>
            <a:r>
              <a:rPr sz="1500" b="1">
                <a:solidFill>
                  <a:srgbClr val="FFFFFF"/>
                </a:solidFill>
                <a:latin typeface="Calibri"/>
              </a:rPr>
              <a:t>Contenido.  </a:t>
            </a:r>
            <a:r>
              <a:rPr sz="1500">
                <a:solidFill>
                  <a:srgbClr val="D8DEDE"/>
                </a:solidFill>
                <a:latin typeface="Calibri"/>
              </a:rPr>
              <a:t>incluye las 7 fases del análisis, desde la carga hasta las conclusiones.</a:t>
            </a:r>
          </a:p>
          <a:p>
            <a:pPr>
              <a:lnSpc>
                <a:spcPct val="108000"/>
              </a:lnSpc>
              <a:spcAft>
                <a:spcPts val="1300"/>
              </a:spcAft>
            </a:pPr>
            <a:r>
              <a:rPr sz="1500" b="1">
                <a:solidFill>
                  <a:srgbClr val="C67A55"/>
                </a:solidFill>
                <a:latin typeface="Calibri"/>
              </a:rPr>
              <a:t>•  </a:t>
            </a:r>
            <a:r>
              <a:rPr sz="1500" b="1">
                <a:solidFill>
                  <a:srgbClr val="FFFFFF"/>
                </a:solidFill>
                <a:latin typeface="Calibri"/>
              </a:rPr>
              <a:t>Salida.  </a:t>
            </a:r>
            <a:r>
              <a:rPr sz="1500">
                <a:solidFill>
                  <a:srgbClr val="D8DEDE"/>
                </a:solidFill>
                <a:latin typeface="Calibri"/>
              </a:rPr>
              <a:t>se exporta a HTML o PDF para entregar.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3B45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6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CRÍTICO DE LA IA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Bitácora de prompts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 err="1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Ordenar</a:t>
            </a: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 </a:t>
            </a:r>
            <a:r>
              <a:rPr lang="en-US" sz="1400" dirty="0" err="1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bitácora</a:t>
            </a: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prompts, </a:t>
            </a:r>
            <a:r>
              <a:rPr lang="en-US" sz="1400" dirty="0" err="1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</a:t>
            </a: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</a:t>
            </a: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n-US" sz="1400" dirty="0" err="1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ensayar</a:t>
            </a: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 defensa.</a:t>
            </a:r>
            <a:endParaRPr lang="en-US" sz="1400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828800"/>
          <a:ext cx="10515600" cy="340156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457200"/>
                <a:gridCol w="3200400"/>
                <a:gridCol w="3566160"/>
                <a:gridCol w="3291840"/>
              </a:tblGrid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64008" marR="54864" marT="0" marB="0" anchor="ctr">
                    <a:solidFill>
                      <a:srgbClr val="2B33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Qué pedí a la IA</a:t>
                      </a:r>
                    </a:p>
                  </a:txBody>
                  <a:tcPr marL="64008" marR="54864" marT="0" marB="0" anchor="ctr">
                    <a:solidFill>
                      <a:srgbClr val="2B33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Cómo lo refiné</a:t>
                      </a:r>
                    </a:p>
                  </a:txBody>
                  <a:tcPr marL="64008" marR="54864" marT="0" marB="0" anchor="ctr">
                    <a:solidFill>
                      <a:srgbClr val="2B33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Qué verifiqué</a:t>
                      </a:r>
                    </a:p>
                  </a:txBody>
                  <a:tcPr marL="64008" marR="54864" marT="0" marB="0" anchor="ctr">
                    <a:solidFill>
                      <a:srgbClr val="2B333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64008" marR="54864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D8DEDE"/>
                          </a:solidFill>
                          <a:latin typeface="Calibri"/>
                        </a:rPr>
                        <a:t>Generar el dataset DevOps</a:t>
                      </a:r>
                    </a:p>
                  </a:txBody>
                  <a:tcPr marL="64008" marR="54864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D8DEDE"/>
                          </a:solidFill>
                          <a:latin typeface="Calibri"/>
                        </a:rPr>
                        <a:t>Agregar faltantes, valores fuera de rango y duplicados</a:t>
                      </a:r>
                    </a:p>
                  </a:txBody>
                  <a:tcPr marL="64008" marR="54864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D8DEDE"/>
                          </a:solidFill>
                          <a:latin typeface="Calibri"/>
                        </a:rPr>
                        <a:t>Tipos y rangos de cada variable</a:t>
                      </a:r>
                    </a:p>
                  </a:txBody>
                  <a:tcPr marL="64008" marR="54864" marT="0" marB="0" anchor="ctr">
                    <a:solidFill>
                      <a:srgbClr val="3B454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64008" marR="54864" marT="0" marB="0" anchor="ctr">
                    <a:solidFill>
                      <a:srgbClr val="343D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D8DEDE"/>
                          </a:solidFill>
                          <a:latin typeface="Calibri"/>
                        </a:rPr>
                        <a:t>Script de carga y limpieza</a:t>
                      </a:r>
                    </a:p>
                  </a:txBody>
                  <a:tcPr marL="64008" marR="54864" marT="0" marB="0" anchor="ctr">
                    <a:solidFill>
                      <a:srgbClr val="343D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D8DEDE"/>
                          </a:solidFill>
                          <a:latin typeface="Calibri"/>
                        </a:rPr>
                        <a:t>Usar solo funciones básicas y conservar los NA</a:t>
                      </a:r>
                    </a:p>
                  </a:txBody>
                  <a:tcPr marL="64008" marR="54864" marT="0" marB="0" anchor="ctr">
                    <a:solidFill>
                      <a:srgbClr val="343D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D8DEDE"/>
                          </a:solidFill>
                          <a:latin typeface="Calibri"/>
                        </a:rPr>
                        <a:t>Conteo de NA y duplicados</a:t>
                      </a:r>
                    </a:p>
                  </a:txBody>
                  <a:tcPr marL="64008" marR="54864" marT="0" marB="0" anchor="ctr">
                    <a:solidFill>
                      <a:srgbClr val="343D3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64008" marR="54864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D8DEDE"/>
                          </a:solidFill>
                          <a:latin typeface="Calibri"/>
                        </a:rPr>
                        <a:t>Descriptiva univariada</a:t>
                      </a:r>
                    </a:p>
                  </a:txBody>
                  <a:tcPr marL="64008" marR="54864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D8DEDE"/>
                          </a:solidFill>
                          <a:latin typeface="Calibri"/>
                        </a:rPr>
                        <a:t>Dejar solo lo pedido y en español</a:t>
                      </a:r>
                    </a:p>
                  </a:txBody>
                  <a:tcPr marL="64008" marR="54864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D8DEDE"/>
                          </a:solidFill>
                          <a:latin typeface="Calibri"/>
                        </a:rPr>
                        <a:t>Fórmula de asimetría y curtosis</a:t>
                      </a:r>
                    </a:p>
                  </a:txBody>
                  <a:tcPr marL="64008" marR="54864" marT="0" marB="0" anchor="ctr">
                    <a:solidFill>
                      <a:srgbClr val="3B454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64008" marR="54864" marT="0" marB="0" anchor="ctr">
                    <a:solidFill>
                      <a:srgbClr val="343D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D8DEDE"/>
                          </a:solidFill>
                          <a:latin typeface="Calibri"/>
                        </a:rPr>
                        <a:t>Tabla de frecuencias</a:t>
                      </a:r>
                    </a:p>
                  </a:txBody>
                  <a:tcPr marL="64008" marR="54864" marT="0" marB="0" anchor="ctr">
                    <a:solidFill>
                      <a:srgbClr val="343D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D8DEDE"/>
                          </a:solidFill>
                          <a:latin typeface="Calibri"/>
                        </a:rPr>
                        <a:t>Mostrarla en decimal y con todas las clases</a:t>
                      </a:r>
                    </a:p>
                  </a:txBody>
                  <a:tcPr marL="64008" marR="54864" marT="0" marB="0" anchor="ctr">
                    <a:solidFill>
                      <a:srgbClr val="343D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D8DEDE"/>
                          </a:solidFill>
                          <a:latin typeface="Calibri"/>
                        </a:rPr>
                        <a:t>La clase modal</a:t>
                      </a:r>
                    </a:p>
                  </a:txBody>
                  <a:tcPr marL="64008" marR="54864" marT="0" marB="0" anchor="ctr">
                    <a:solidFill>
                      <a:srgbClr val="343D3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64008" marR="54864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D8DEDE"/>
                          </a:solidFill>
                          <a:latin typeface="Calibri"/>
                        </a:rPr>
                        <a:t>Grupos y correlaciones</a:t>
                      </a:r>
                    </a:p>
                  </a:txBody>
                  <a:tcPr marL="64008" marR="54864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D8DEDE"/>
                          </a:solidFill>
                          <a:latin typeface="Calibri"/>
                        </a:rPr>
                        <a:t>Distinguir correlación de causalidad</a:t>
                      </a:r>
                    </a:p>
                  </a:txBody>
                  <a:tcPr marL="64008" marR="54864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D8DEDE"/>
                          </a:solidFill>
                          <a:latin typeface="Calibri"/>
                        </a:rPr>
                        <a:t>Coincidencia con los hallazgos</a:t>
                      </a:r>
                    </a:p>
                  </a:txBody>
                  <a:tcPr marL="64008" marR="54864" marT="0" marB="0" anchor="ctr">
                    <a:solidFill>
                      <a:srgbClr val="3B454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B45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6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Conclusiones y defensa</a:t>
            </a:r>
            <a:endParaRPr lang="en-US" sz="3200" dirty="0"/>
          </a:p>
        </p:txBody>
      </p:sp>
      <p:sp>
        <p:nvSpPr>
          <p:cNvPr id="4" name="TextBox 3"/>
          <p:cNvSpPr txBox="1"/>
          <p:nvPr/>
        </p:nvSpPr>
        <p:spPr>
          <a:xfrm>
            <a:off x="548640" y="1874519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500" b="1">
                <a:solidFill>
                  <a:srgbClr val="C67A55"/>
                </a:solidFill>
                <a:latin typeface="Calibri"/>
              </a:rPr>
              <a:t>•  </a:t>
            </a:r>
            <a:r>
              <a:rPr sz="1500" b="1">
                <a:solidFill>
                  <a:srgbClr val="FFFFFF"/>
                </a:solidFill>
                <a:latin typeface="Calibri"/>
              </a:rPr>
              <a:t>Prioridad.  </a:t>
            </a:r>
            <a:r>
              <a:rPr sz="1500">
                <a:solidFill>
                  <a:srgbClr val="D8DEDE"/>
                </a:solidFill>
                <a:latin typeface="Calibri"/>
              </a:rPr>
              <a:t>es el factor más influyente: a mayor prioridad, más bugs (0.57 a 1.51) y más fallos.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500" b="1">
                <a:solidFill>
                  <a:srgbClr val="C67A55"/>
                </a:solidFill>
                <a:latin typeface="Calibri"/>
              </a:rPr>
              <a:t>•  </a:t>
            </a:r>
            <a:r>
              <a:rPr sz="1500" b="1">
                <a:solidFill>
                  <a:srgbClr val="FFFFFF"/>
                </a:solidFill>
                <a:latin typeface="Calibri"/>
              </a:rPr>
              <a:t>Commits grandes.  </a:t>
            </a:r>
            <a:r>
              <a:rPr sz="1500">
                <a:solidFill>
                  <a:srgbClr val="D8DEDE"/>
                </a:solidFill>
                <a:latin typeface="Calibri"/>
              </a:rPr>
              <a:t>se asocian a más bugs (correlación 0.42), la relación más fuerte del análisis.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500" b="1">
                <a:solidFill>
                  <a:srgbClr val="C67A55"/>
                </a:solidFill>
                <a:latin typeface="Calibri"/>
              </a:rPr>
              <a:t>•  </a:t>
            </a:r>
            <a:r>
              <a:rPr sz="1500" b="1">
                <a:solidFill>
                  <a:srgbClr val="FFFFFF"/>
                </a:solidFill>
                <a:latin typeface="Calibri"/>
              </a:rPr>
              <a:t>Equipos.  </a:t>
            </a:r>
            <a:r>
              <a:rPr sz="1500">
                <a:solidFill>
                  <a:srgbClr val="D8DEDE"/>
                </a:solidFill>
                <a:latin typeface="Calibri"/>
              </a:rPr>
              <a:t>difieren en velocidad de build, no en calidad.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500" b="1">
                <a:solidFill>
                  <a:srgbClr val="C67A55"/>
                </a:solidFill>
                <a:latin typeface="Calibri"/>
              </a:rPr>
              <a:t>•  </a:t>
            </a:r>
            <a:r>
              <a:rPr sz="1500" b="1">
                <a:solidFill>
                  <a:srgbClr val="FFFFFF"/>
                </a:solidFill>
                <a:latin typeface="Calibri"/>
              </a:rPr>
              <a:t>Limpieza.  </a:t>
            </a:r>
            <a:r>
              <a:rPr sz="1500">
                <a:solidFill>
                  <a:srgbClr val="D8DEDE"/>
                </a:solidFill>
                <a:latin typeface="Calibri"/>
              </a:rPr>
              <a:t>se conservaron los faltantes para no distorsionar la dispersión.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500" b="1">
                <a:solidFill>
                  <a:srgbClr val="C67A55"/>
                </a:solidFill>
                <a:latin typeface="Calibri"/>
              </a:rPr>
              <a:t>•  </a:t>
            </a:r>
            <a:r>
              <a:rPr sz="1500" b="1">
                <a:solidFill>
                  <a:srgbClr val="FFFFFF"/>
                </a:solidFill>
                <a:latin typeface="Calibri"/>
              </a:rPr>
              <a:t>Cierre.  </a:t>
            </a:r>
            <a:r>
              <a:rPr sz="1500">
                <a:solidFill>
                  <a:srgbClr val="D8DEDE"/>
                </a:solidFill>
                <a:latin typeface="Calibri"/>
              </a:rPr>
              <a:t>correlación no es causalidad: los hallazgos describen patrones, no causas.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B45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C67A55"/>
                </a:solidFill>
                <a:latin typeface="Calibri"/>
              </a:rPr>
              <a:t>RESPALDO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>
                <a:solidFill>
                  <a:srgbClr val="FFFFFF"/>
                </a:solidFill>
                <a:latin typeface="Calibri Light"/>
              </a:rPr>
              <a:t>Diccionario de variables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783080"/>
          <a:ext cx="10515600" cy="402336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286000"/>
                <a:gridCol w="2743200"/>
                <a:gridCol w="548640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variable</a:t>
                      </a:r>
                    </a:p>
                  </a:txBody>
                  <a:tcPr marL="64008" marR="54864" marT="0" marB="0" anchor="ctr">
                    <a:solidFill>
                      <a:srgbClr val="2B33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tipo</a:t>
                      </a:r>
                    </a:p>
                  </a:txBody>
                  <a:tcPr marL="64008" marR="54864" marT="0" marB="0" anchor="ctr">
                    <a:solidFill>
                      <a:srgbClr val="2B33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descripción</a:t>
                      </a:r>
                    </a:p>
                  </a:txBody>
                  <a:tcPr marL="64008" marR="54864" marT="0" marB="0" anchor="ctr">
                    <a:solidFill>
                      <a:srgbClr val="2B333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build_time_min</a:t>
                      </a:r>
                    </a:p>
                  </a:txBody>
                  <a:tcPr marL="64008" marR="54864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cuantitativa continua</a:t>
                      </a:r>
                    </a:p>
                  </a:txBody>
                  <a:tcPr marL="64008" marR="54864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duración del build (min)</a:t>
                      </a:r>
                    </a:p>
                  </a:txBody>
                  <a:tcPr marL="64008" marR="54864" marT="0" marB="0" anchor="ctr">
                    <a:solidFill>
                      <a:srgbClr val="3B454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deploy_time_min</a:t>
                      </a:r>
                    </a:p>
                  </a:txBody>
                  <a:tcPr marL="64008" marR="54864" marT="0" marB="0" anchor="ctr">
                    <a:solidFill>
                      <a:srgbClr val="343D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cuantitativa continua</a:t>
                      </a:r>
                    </a:p>
                  </a:txBody>
                  <a:tcPr marL="64008" marR="54864" marT="0" marB="0" anchor="ctr">
                    <a:solidFill>
                      <a:srgbClr val="343D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duración del despliegue (min)</a:t>
                      </a:r>
                    </a:p>
                  </a:txBody>
                  <a:tcPr marL="64008" marR="54864" marT="0" marB="0" anchor="ctr">
                    <a:solidFill>
                      <a:srgbClr val="343D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commit_size_loc</a:t>
                      </a:r>
                    </a:p>
                  </a:txBody>
                  <a:tcPr marL="64008" marR="54864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cuantitativa discreta</a:t>
                      </a:r>
                    </a:p>
                  </a:txBody>
                  <a:tcPr marL="64008" marR="54864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líneas de código modificadas</a:t>
                      </a:r>
                    </a:p>
                  </a:txBody>
                  <a:tcPr marL="64008" marR="54864" marT="0" marB="0" anchor="ctr">
                    <a:solidFill>
                      <a:srgbClr val="3B454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num_bugs</a:t>
                      </a:r>
                    </a:p>
                  </a:txBody>
                  <a:tcPr marL="64008" marR="54864" marT="0" marB="0" anchor="ctr">
                    <a:solidFill>
                      <a:srgbClr val="343D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cuantitativa discreta</a:t>
                      </a:r>
                    </a:p>
                  </a:txBody>
                  <a:tcPr marL="64008" marR="54864" marT="0" marB="0" anchor="ctr">
                    <a:solidFill>
                      <a:srgbClr val="343D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bugs tras el despliegue</a:t>
                      </a:r>
                    </a:p>
                  </a:txBody>
                  <a:tcPr marL="64008" marR="54864" marT="0" marB="0" anchor="ctr">
                    <a:solidFill>
                      <a:srgbClr val="343D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test_coverage_pct</a:t>
                      </a:r>
                    </a:p>
                  </a:txBody>
                  <a:tcPr marL="64008" marR="54864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cuantitativa continua</a:t>
                      </a:r>
                    </a:p>
                  </a:txBody>
                  <a:tcPr marL="64008" marR="54864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cobertura de pruebas (0–100 %)</a:t>
                      </a:r>
                    </a:p>
                  </a:txBody>
                  <a:tcPr marL="64008" marR="54864" marT="0" marB="0" anchor="ctr">
                    <a:solidFill>
                      <a:srgbClr val="3B454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ticket_resolution_h</a:t>
                      </a:r>
                    </a:p>
                  </a:txBody>
                  <a:tcPr marL="64008" marR="54864" marT="0" marB="0" anchor="ctr">
                    <a:solidFill>
                      <a:srgbClr val="343D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cuantitativa continua</a:t>
                      </a:r>
                    </a:p>
                  </a:txBody>
                  <a:tcPr marL="64008" marR="54864" marT="0" marB="0" anchor="ctr">
                    <a:solidFill>
                      <a:srgbClr val="343D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horas para resolver el ticket</a:t>
                      </a:r>
                    </a:p>
                  </a:txBody>
                  <a:tcPr marL="64008" marR="54864" marT="0" marB="0" anchor="ctr">
                    <a:solidFill>
                      <a:srgbClr val="343D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team</a:t>
                      </a:r>
                    </a:p>
                  </a:txBody>
                  <a:tcPr marL="64008" marR="54864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cualitativa nominal</a:t>
                      </a:r>
                    </a:p>
                  </a:txBody>
                  <a:tcPr marL="64008" marR="54864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equipo (Alpha–Delta)</a:t>
                      </a:r>
                    </a:p>
                  </a:txBody>
                  <a:tcPr marL="64008" marR="54864" marT="0" marB="0" anchor="ctr">
                    <a:solidFill>
                      <a:srgbClr val="3B454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module</a:t>
                      </a:r>
                    </a:p>
                  </a:txBody>
                  <a:tcPr marL="64008" marR="54864" marT="0" marB="0" anchor="ctr">
                    <a:solidFill>
                      <a:srgbClr val="343D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cualitativa nominal</a:t>
                      </a:r>
                    </a:p>
                  </a:txBody>
                  <a:tcPr marL="64008" marR="54864" marT="0" marB="0" anchor="ctr">
                    <a:solidFill>
                      <a:srgbClr val="343D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módulo (auth, api, ui…)</a:t>
                      </a:r>
                    </a:p>
                  </a:txBody>
                  <a:tcPr marL="64008" marR="54864" marT="0" marB="0" anchor="ctr">
                    <a:solidFill>
                      <a:srgbClr val="343D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priority</a:t>
                      </a:r>
                    </a:p>
                  </a:txBody>
                  <a:tcPr marL="64008" marR="54864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cualitativa ordinal</a:t>
                      </a:r>
                    </a:p>
                  </a:txBody>
                  <a:tcPr marL="64008" marR="54864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baja · media · alta · crítica</a:t>
                      </a:r>
                    </a:p>
                  </a:txBody>
                  <a:tcPr marL="64008" marR="54864" marT="0" marB="0" anchor="ctr">
                    <a:solidFill>
                      <a:srgbClr val="3B454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deploy_status</a:t>
                      </a:r>
                    </a:p>
                  </a:txBody>
                  <a:tcPr marL="64008" marR="54864" marT="0" marB="0" anchor="ctr">
                    <a:solidFill>
                      <a:srgbClr val="343D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cualitativa nominal</a:t>
                      </a:r>
                    </a:p>
                  </a:txBody>
                  <a:tcPr marL="64008" marR="54864" marT="0" marB="0" anchor="ctr">
                    <a:solidFill>
                      <a:srgbClr val="343D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success · failed · rolled_back</a:t>
                      </a:r>
                    </a:p>
                  </a:txBody>
                  <a:tcPr marL="64008" marR="54864" marT="0" marB="0" anchor="ctr">
                    <a:solidFill>
                      <a:srgbClr val="343D3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B45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C67A55"/>
                </a:solidFill>
                <a:latin typeface="Calibri"/>
              </a:rPr>
              <a:t>RESPALDO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>
                <a:solidFill>
                  <a:srgbClr val="FFFFFF"/>
                </a:solidFill>
                <a:latin typeface="Calibri Light"/>
              </a:rPr>
              <a:t>Decisiones de limpieza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74519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400" b="1">
                <a:solidFill>
                  <a:srgbClr val="C67A55"/>
                </a:solidFill>
                <a:latin typeface="Calibri"/>
              </a:rPr>
              <a:t>•  </a:t>
            </a:r>
            <a:r>
              <a:rPr sz="1400" b="1">
                <a:solidFill>
                  <a:srgbClr val="FFFFFF"/>
                </a:solidFill>
                <a:latin typeface="Calibri"/>
              </a:rPr>
              <a:t>Duplicados.  </a:t>
            </a:r>
            <a:r>
              <a:rPr sz="1400">
                <a:solidFill>
                  <a:srgbClr val="D8DEDE"/>
                </a:solidFill>
                <a:latin typeface="Calibri"/>
              </a:rPr>
              <a:t>8 filas repetidas exactas eliminadas (5.008 a 5.000).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400" b="1">
                <a:solidFill>
                  <a:srgbClr val="C67A55"/>
                </a:solidFill>
                <a:latin typeface="Calibri"/>
              </a:rPr>
              <a:t>•  </a:t>
            </a:r>
            <a:r>
              <a:rPr sz="1400" b="1">
                <a:solidFill>
                  <a:srgbClr val="FFFFFF"/>
                </a:solidFill>
                <a:latin typeface="Calibri"/>
              </a:rPr>
              <a:t>Prioridad.  </a:t>
            </a:r>
            <a:r>
              <a:rPr sz="1400">
                <a:solidFill>
                  <a:srgbClr val="D8DEDE"/>
                </a:solidFill>
                <a:latin typeface="Calibri"/>
              </a:rPr>
              <a:t>'Alta', ' media', 'CRITICA' normalizadas a minúsculas sin espacios.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400" b="1">
                <a:solidFill>
                  <a:srgbClr val="C67A55"/>
                </a:solidFill>
                <a:latin typeface="Calibri"/>
              </a:rPr>
              <a:t>•  </a:t>
            </a:r>
            <a:r>
              <a:rPr sz="1400" b="1">
                <a:solidFill>
                  <a:srgbClr val="FFFFFF"/>
                </a:solidFill>
                <a:latin typeface="Calibri"/>
              </a:rPr>
              <a:t>Tipos.  </a:t>
            </a:r>
            <a:r>
              <a:rPr sz="1400">
                <a:solidFill>
                  <a:srgbClr val="D8DEDE"/>
                </a:solidFill>
                <a:latin typeface="Calibri"/>
              </a:rPr>
              <a:t>categóricas a factor; prioridad como factor ordinal.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400" b="1">
                <a:solidFill>
                  <a:srgbClr val="C67A55"/>
                </a:solidFill>
                <a:latin typeface="Calibri"/>
              </a:rPr>
              <a:t>•  </a:t>
            </a:r>
            <a:r>
              <a:rPr sz="1400" b="1">
                <a:solidFill>
                  <a:srgbClr val="FFFFFF"/>
                </a:solidFill>
                <a:latin typeface="Calibri"/>
              </a:rPr>
              <a:t>Cobertura.  </a:t>
            </a:r>
            <a:r>
              <a:rPr sz="1400">
                <a:solidFill>
                  <a:srgbClr val="D8DEDE"/>
                </a:solidFill>
                <a:latin typeface="Calibri"/>
              </a:rPr>
              <a:t>12 valores fuera de 0–100 % marcados como NA (error de captura).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400" b="1">
                <a:solidFill>
                  <a:srgbClr val="C67A55"/>
                </a:solidFill>
                <a:latin typeface="Calibri"/>
              </a:rPr>
              <a:t>•  </a:t>
            </a:r>
            <a:r>
              <a:rPr sz="1400" b="1">
                <a:solidFill>
                  <a:srgbClr val="FFFFFF"/>
                </a:solidFill>
                <a:latin typeface="Calibri"/>
              </a:rPr>
              <a:t>Faltantes.  </a:t>
            </a:r>
            <a:r>
              <a:rPr sz="1400">
                <a:solidFill>
                  <a:srgbClr val="D8DEDE"/>
                </a:solidFill>
                <a:latin typeface="Calibri"/>
              </a:rPr>
              <a:t>312 NA conservados; se analizan con na.rm = TRUE (no se imputan ni eliminan).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B45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C67A55"/>
                </a:solidFill>
                <a:latin typeface="Calibri"/>
              </a:rPr>
              <a:t>RESPALDO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>
                <a:solidFill>
                  <a:srgbClr val="FFFFFF"/>
                </a:solidFill>
                <a:latin typeface="Calibri Light"/>
              </a:rPr>
              <a:t>Glosario estadístico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00" b="1">
                <a:solidFill>
                  <a:srgbClr val="C67A55"/>
                </a:solidFill>
                <a:latin typeface="Calibri"/>
              </a:rPr>
              <a:t>•  </a:t>
            </a:r>
            <a:r>
              <a:rPr sz="1400" b="1">
                <a:solidFill>
                  <a:srgbClr val="FFFFFF"/>
                </a:solidFill>
                <a:latin typeface="Calibri"/>
              </a:rPr>
              <a:t>Media / mediana.  </a:t>
            </a:r>
            <a:r>
              <a:rPr sz="1400">
                <a:solidFill>
                  <a:srgbClr val="D8DEDE"/>
                </a:solidFill>
                <a:latin typeface="Calibri"/>
              </a:rPr>
              <a:t>promedio y valor central; si media &gt; mediana hay sesgo a la derecha.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00" b="1">
                <a:solidFill>
                  <a:srgbClr val="C67A55"/>
                </a:solidFill>
                <a:latin typeface="Calibri"/>
              </a:rPr>
              <a:t>•  </a:t>
            </a:r>
            <a:r>
              <a:rPr sz="1400" b="1">
                <a:solidFill>
                  <a:srgbClr val="FFFFFF"/>
                </a:solidFill>
                <a:latin typeface="Calibri"/>
              </a:rPr>
              <a:t>Desv. estándar / CV.  </a:t>
            </a:r>
            <a:r>
              <a:rPr sz="1400">
                <a:solidFill>
                  <a:srgbClr val="D8DEDE"/>
                </a:solidFill>
                <a:latin typeface="Calibri"/>
              </a:rPr>
              <a:t>dispersión absoluta y relativa (permite comparar escalas).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00" b="1">
                <a:solidFill>
                  <a:srgbClr val="C67A55"/>
                </a:solidFill>
                <a:latin typeface="Calibri"/>
              </a:rPr>
              <a:t>•  </a:t>
            </a:r>
            <a:r>
              <a:rPr sz="1400" b="1">
                <a:solidFill>
                  <a:srgbClr val="FFFFFF"/>
                </a:solidFill>
                <a:latin typeface="Calibri"/>
              </a:rPr>
              <a:t>Rango intercuartílico.  </a:t>
            </a:r>
            <a:r>
              <a:rPr sz="1400">
                <a:solidFill>
                  <a:srgbClr val="D8DEDE"/>
                </a:solidFill>
                <a:latin typeface="Calibri"/>
              </a:rPr>
              <a:t>ancho del 50 % central de los datos.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00" b="1">
                <a:solidFill>
                  <a:srgbClr val="C67A55"/>
                </a:solidFill>
                <a:latin typeface="Calibri"/>
              </a:rPr>
              <a:t>•  </a:t>
            </a:r>
            <a:r>
              <a:rPr sz="1400" b="1">
                <a:solidFill>
                  <a:srgbClr val="FFFFFF"/>
                </a:solidFill>
                <a:latin typeface="Calibri"/>
              </a:rPr>
              <a:t>Asimetría.  </a:t>
            </a:r>
            <a:r>
              <a:rPr sz="1400">
                <a:solidFill>
                  <a:srgbClr val="D8DEDE"/>
                </a:solidFill>
                <a:latin typeface="Calibri"/>
              </a:rPr>
              <a:t>+ cola a la derecha, − cola a la izquierda, 0 simétrica.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00" b="1">
                <a:solidFill>
                  <a:srgbClr val="C67A55"/>
                </a:solidFill>
                <a:latin typeface="Calibri"/>
              </a:rPr>
              <a:t>•  </a:t>
            </a:r>
            <a:r>
              <a:rPr sz="1400" b="1">
                <a:solidFill>
                  <a:srgbClr val="FFFFFF"/>
                </a:solidFill>
                <a:latin typeface="Calibri"/>
              </a:rPr>
              <a:t>Curtosis.  </a:t>
            </a:r>
            <a:r>
              <a:rPr sz="1400">
                <a:solidFill>
                  <a:srgbClr val="D8DEDE"/>
                </a:solidFill>
                <a:latin typeface="Calibri"/>
              </a:rPr>
              <a:t>referencia 3; sobre 3 = más valores atípicos.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00" b="1">
                <a:solidFill>
                  <a:srgbClr val="C67A55"/>
                </a:solidFill>
                <a:latin typeface="Calibri"/>
              </a:rPr>
              <a:t>•  </a:t>
            </a:r>
            <a:r>
              <a:rPr sz="1400" b="1">
                <a:solidFill>
                  <a:srgbClr val="FFFFFF"/>
                </a:solidFill>
                <a:latin typeface="Calibri"/>
              </a:rPr>
              <a:t>Correlación.  </a:t>
            </a:r>
            <a:r>
              <a:rPr sz="1400">
                <a:solidFill>
                  <a:srgbClr val="D8DEDE"/>
                </a:solidFill>
                <a:latin typeface="Calibri"/>
              </a:rPr>
              <a:t>de −1 a 1; mide si dos variables se mueven juntas.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B45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C67A55"/>
                </a:solidFill>
                <a:latin typeface="Calibri"/>
              </a:rPr>
              <a:t>RESPALDO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>
                <a:solidFill>
                  <a:srgbClr val="FFFFFF"/>
                </a:solidFill>
                <a:latin typeface="Calibri Light"/>
              </a:rPr>
              <a:t>Preguntas frecuentes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74519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400" b="1">
                <a:solidFill>
                  <a:srgbClr val="C67A55"/>
                </a:solidFill>
                <a:latin typeface="Calibri"/>
              </a:rPr>
              <a:t>•  </a:t>
            </a:r>
            <a:r>
              <a:rPr sz="1400" b="1">
                <a:solidFill>
                  <a:srgbClr val="FFFFFF"/>
                </a:solidFill>
                <a:latin typeface="Calibri"/>
              </a:rPr>
              <a:t>¿Por qué la curtosis normal da 3?.  </a:t>
            </a:r>
            <a:r>
              <a:rPr sz="1400">
                <a:solidFill>
                  <a:srgbClr val="D8DEDE"/>
                </a:solidFill>
                <a:latin typeface="Calibri"/>
              </a:rPr>
              <a:t>el paquete moments no resta 3 (no usa exceso de curtosis).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400" b="1">
                <a:solidFill>
                  <a:srgbClr val="C67A55"/>
                </a:solidFill>
                <a:latin typeface="Calibri"/>
              </a:rPr>
              <a:t>•  </a:t>
            </a:r>
            <a:r>
              <a:rPr sz="1400" b="1">
                <a:solidFill>
                  <a:srgbClr val="FFFFFF"/>
                </a:solidFill>
                <a:latin typeface="Calibri"/>
              </a:rPr>
              <a:t>¿Por qué conservar los NA?.  </a:t>
            </a:r>
            <a:r>
              <a:rPr sz="1400">
                <a:solidFill>
                  <a:srgbClr val="D8DEDE"/>
                </a:solidFill>
                <a:latin typeface="Calibri"/>
              </a:rPr>
              <a:t>imputar reduce la dispersión real y eliminar pierde información.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400" b="1">
                <a:solidFill>
                  <a:srgbClr val="C67A55"/>
                </a:solidFill>
                <a:latin typeface="Calibri"/>
              </a:rPr>
              <a:t>•  </a:t>
            </a:r>
            <a:r>
              <a:rPr sz="1400" b="1">
                <a:solidFill>
                  <a:srgbClr val="FFFFFF"/>
                </a:solidFill>
                <a:latin typeface="Calibri"/>
              </a:rPr>
              <a:t>¿Por qué 14 clases?.  </a:t>
            </a:r>
            <a:r>
              <a:rPr sz="1400">
                <a:solidFill>
                  <a:srgbClr val="D8DEDE"/>
                </a:solidFill>
                <a:latin typeface="Calibri"/>
              </a:rPr>
              <a:t>regla de Sturges: 1 + 3.322·log10(n) con n = 5.000.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400" b="1">
                <a:solidFill>
                  <a:srgbClr val="C67A55"/>
                </a:solidFill>
                <a:latin typeface="Calibri"/>
              </a:rPr>
              <a:t>•  </a:t>
            </a:r>
            <a:r>
              <a:rPr sz="1400" b="1">
                <a:solidFill>
                  <a:srgbClr val="FFFFFF"/>
                </a:solidFill>
                <a:latin typeface="Calibri"/>
              </a:rPr>
              <a:t>¿Correlación = causa?.  </a:t>
            </a:r>
            <a:r>
              <a:rPr sz="1400">
                <a:solidFill>
                  <a:srgbClr val="D8DEDE"/>
                </a:solidFill>
                <a:latin typeface="Calibri"/>
              </a:rPr>
              <a:t>no; puede haber una tercera variable detrás de la relación.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B45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C67A55"/>
                </a:solidFill>
                <a:latin typeface="Calibri"/>
              </a:rPr>
              <a:t>RESPALDO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>
                <a:solidFill>
                  <a:srgbClr val="FFFFFF"/>
                </a:solidFill>
                <a:latin typeface="Calibri Light"/>
              </a:rPr>
              <a:t>Limitaciones y trabajo futuro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74519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400" b="1">
                <a:solidFill>
                  <a:srgbClr val="C67A55"/>
                </a:solidFill>
                <a:latin typeface="Calibri"/>
              </a:rPr>
              <a:t>•  </a:t>
            </a:r>
            <a:r>
              <a:rPr sz="1400" b="1">
                <a:solidFill>
                  <a:srgbClr val="FFFFFF"/>
                </a:solidFill>
                <a:latin typeface="Calibri"/>
              </a:rPr>
              <a:t>Datos simulados.  </a:t>
            </a:r>
            <a:r>
              <a:rPr sz="1400">
                <a:solidFill>
                  <a:srgbClr val="D8DEDE"/>
                </a:solidFill>
                <a:latin typeface="Calibri"/>
              </a:rPr>
              <a:t>el dataset es sintético; los patrones podrían diferir en datos reales.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400" b="1">
                <a:solidFill>
                  <a:srgbClr val="C67A55"/>
                </a:solidFill>
                <a:latin typeface="Calibri"/>
              </a:rPr>
              <a:t>•  </a:t>
            </a:r>
            <a:r>
              <a:rPr sz="1400" b="1">
                <a:solidFill>
                  <a:srgbClr val="FFFFFF"/>
                </a:solidFill>
                <a:latin typeface="Calibri"/>
              </a:rPr>
              <a:t>Solo descriptivo.  </a:t>
            </a:r>
            <a:r>
              <a:rPr sz="1400">
                <a:solidFill>
                  <a:srgbClr val="D8DEDE"/>
                </a:solidFill>
                <a:latin typeface="Calibri"/>
              </a:rPr>
              <a:t>no se aplicaron pruebas de hipótesis ni modelos predictivos.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400" b="1">
                <a:solidFill>
                  <a:srgbClr val="C67A55"/>
                </a:solidFill>
                <a:latin typeface="Calibri"/>
              </a:rPr>
              <a:t>•  </a:t>
            </a:r>
            <a:r>
              <a:rPr sz="1400" b="1">
                <a:solidFill>
                  <a:srgbClr val="FFFFFF"/>
                </a:solidFill>
                <a:latin typeface="Calibri"/>
              </a:rPr>
              <a:t>Correlaciones lineales.  </a:t>
            </a:r>
            <a:r>
              <a:rPr sz="1400">
                <a:solidFill>
                  <a:srgbClr val="D8DEDE"/>
                </a:solidFill>
                <a:latin typeface="Calibri"/>
              </a:rPr>
              <a:t>no se capturan relaciones no lineales entre variables.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400" b="1">
                <a:solidFill>
                  <a:srgbClr val="C67A55"/>
                </a:solidFill>
                <a:latin typeface="Calibri"/>
              </a:rPr>
              <a:t>•  </a:t>
            </a:r>
            <a:r>
              <a:rPr sz="1400" b="1">
                <a:solidFill>
                  <a:srgbClr val="FFFFFF"/>
                </a:solidFill>
                <a:latin typeface="Calibri"/>
              </a:rPr>
              <a:t>Siguiente paso.  </a:t>
            </a:r>
            <a:r>
              <a:rPr sz="1400">
                <a:solidFill>
                  <a:srgbClr val="D8DEDE"/>
                </a:solidFill>
                <a:latin typeface="Calibri"/>
              </a:rPr>
              <a:t>validar los hallazgos con datos productivos y análisis inferencial.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465</Words>
  <Application>Microsoft Office PowerPoint</Application>
  <PresentationFormat>Panorámica</PresentationFormat>
  <Paragraphs>84</Paragraphs>
  <Slides>12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Matías Vicente Reyes Duarte</cp:lastModifiedBy>
  <cp:revision>2</cp:revision>
  <dcterms:created xsi:type="dcterms:W3CDTF">2026-08-28T20:21:12Z</dcterms:created>
  <dcterms:modified xsi:type="dcterms:W3CDTF">2026-08-28T20:49:31Z</dcterms:modified>
</cp:coreProperties>
</file>