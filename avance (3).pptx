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3251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317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3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y Estadística Computacional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24248" y="4069080"/>
            <a:ext cx="2743200" cy="0"/>
          </a:xfrm>
          <a:prstGeom prst="line">
            <a:avLst/>
          </a:prstGeom>
          <a:noFill/>
          <a:ln w="19050">
            <a:solidFill>
              <a:srgbClr val="C67A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Benjamín Herrera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escenario y el conjunto de datos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s-CL" sz="1400" dirty="0">
                <a:solidFill>
                  <a:schemeClr val="bg1"/>
                </a:solidFill>
              </a:rPr>
              <a:t>Como analista de datos de un equipo de ingeniería, se analiza un histórico de métricas de DevOps con estadística descriptiva en R. Cada fila del archivo devops_metrics.csv es un evento de integración/despliegue: 5.008 filas y 11 variables, con problemas de calidad (faltantes, valores fuera de rango y duplicados) que se depuran en la Fase 1.  	</a:t>
            </a:r>
          </a:p>
          <a:p>
            <a:pPr algn="just"/>
            <a:r>
              <a:rPr lang="es-CL" sz="1400" dirty="0">
                <a:solidFill>
                  <a:schemeClr val="bg1"/>
                </a:solidFill>
              </a:rPr>
              <a:t>* El valor numero 11 es un id que se le dio a cada evento para identificarlo</a:t>
            </a:r>
            <a:endParaRPr lang="en-US" sz="14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4977646-9154-81C3-9F71-F98DD2AE1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107882"/>
              </p:ext>
            </p:extLst>
          </p:nvPr>
        </p:nvGraphicFramePr>
        <p:xfrm>
          <a:off x="550164" y="2788921"/>
          <a:ext cx="11091672" cy="3657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54175544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96350532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354338588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85404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build_time_min / deploy_time_min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Duración de build y de despliegue (min)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2672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commit_size_loc / num_bugs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discreta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modificadas y bugs tras el despliegue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8768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test_coverage_pct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de pruebas (0–100 %)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1919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ticket_resolution_h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Cuantitativa continua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Horas para resolver el ticket asociado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3543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/ module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(Alpha…Delta) y módulo (auth, api, ui…)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3568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ordinal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· media · alta · crítica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12102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deploy_status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Cualitativa nominal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 · failed · rolled_back</a:t>
                      </a: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25400" marB="25400" anchor="ctr">
                    <a:lnL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  <a:alpha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74444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Objetivos, entorno y trabajo con IA</a:t>
            </a:r>
            <a:endParaRPr lang="en-US" sz="32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95A9227-8578-203C-7C05-EA8B7BA395F4}"/>
              </a:ext>
            </a:extLst>
          </p:cNvPr>
          <p:cNvSpPr txBox="1"/>
          <p:nvPr/>
        </p:nvSpPr>
        <p:spPr>
          <a:xfrm>
            <a:off x="548640" y="1905095"/>
            <a:ext cx="1106424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buSzPct val="100000"/>
            </a:pPr>
            <a:r>
              <a:rPr lang="en-US" sz="1300" dirty="0">
                <a:solidFill>
                  <a:schemeClr val="bg1"/>
                </a:solidFill>
              </a:rPr>
              <a:t>En </a:t>
            </a:r>
            <a:r>
              <a:rPr lang="en-US" sz="1300" dirty="0" err="1">
                <a:solidFill>
                  <a:schemeClr val="bg1"/>
                </a:solidFill>
              </a:rPr>
              <a:t>cuanto</a:t>
            </a:r>
            <a:r>
              <a:rPr lang="en-US" sz="1300" dirty="0">
                <a:solidFill>
                  <a:schemeClr val="bg1"/>
                </a:solidFill>
              </a:rPr>
              <a:t> a </a:t>
            </a:r>
            <a:r>
              <a:rPr lang="en-US" sz="1300" dirty="0" err="1">
                <a:solidFill>
                  <a:schemeClr val="bg1"/>
                </a:solidFill>
              </a:rPr>
              <a:t>objetivos</a:t>
            </a:r>
            <a:r>
              <a:rPr lang="en-US" sz="1300" dirty="0">
                <a:solidFill>
                  <a:schemeClr val="bg1"/>
                </a:solidFill>
              </a:rPr>
              <a:t> temenos 3 principals: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central,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forma.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variables.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</a:p>
          <a:p>
            <a:pPr marL="342900" indent="-342900">
              <a:spcAft>
                <a:spcPts val="900"/>
              </a:spcAft>
              <a:buSzPct val="100000"/>
              <a:buFont typeface="+mj-lt"/>
              <a:buAutoNum type="arabicPeriod"/>
            </a:pP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Producir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 con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accionables</a:t>
            </a: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L" sz="1300" dirty="0">
                <a:solidFill>
                  <a:schemeClr val="bg1"/>
                </a:solidFill>
              </a:rPr>
              <a:t>Entorno:</a:t>
            </a: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 (≥ 4.2) + RStudio, Git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tidyverse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moments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asimetría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/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curtosis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rmarkdown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o quarto para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reporte</a:t>
            </a: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Trabajo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con IA</a:t>
            </a: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La IA es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asistente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, no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reemplazo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verifica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explica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línea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Lleva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anota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prompt, sus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versiones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corregiste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de prompts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el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proyecto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300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.</a:t>
            </a:r>
            <a:endParaRPr lang="en-US" sz="1300" dirty="0">
              <a:solidFill>
                <a:schemeClr val="bg1"/>
              </a:solidFill>
            </a:endParaRPr>
          </a:p>
          <a:p>
            <a:pPr>
              <a:spcAft>
                <a:spcPts val="800"/>
              </a:spcAft>
              <a:buSzPct val="100000"/>
            </a:pPr>
            <a:endParaRPr lang="en-US" sz="1300" dirty="0">
              <a:solidFill>
                <a:schemeClr val="bg1"/>
              </a:solidFill>
              <a:ea typeface="Calibri" pitchFamily="34" charset="-122"/>
              <a:cs typeface="Calibri" pitchFamily="34" charset="-120"/>
            </a:endParaRPr>
          </a:p>
          <a:p>
            <a:pPr lvl="7">
              <a:spcAft>
                <a:spcPts val="900"/>
              </a:spcAft>
              <a:buSzPct val="100000"/>
            </a:pP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Carga y limpieza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1   </a:t>
            </a:r>
            <a:r>
              <a:rPr sz="1500" b="1">
                <a:solidFill>
                  <a:srgbClr val="FFFFFF"/>
                </a:solidFill>
                <a:latin typeface="Calibri"/>
              </a:rPr>
              <a:t>Carga e inspección.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importó el archivo (5.008 filas, 11 variables) y se revisaron su estructura, rangos y valores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2   </a:t>
            </a:r>
            <a:r>
              <a:rPr sz="1500" b="1">
                <a:solidFill>
                  <a:srgbClr val="FFFFFF"/>
                </a:solidFill>
                <a:latin typeface="Calibri"/>
              </a:rPr>
              <a:t>Eliminación de duplicados.  </a:t>
            </a:r>
            <a:r>
              <a:rPr sz="1350">
                <a:solidFill>
                  <a:srgbClr val="D8DEDE"/>
                </a:solidFill>
                <a:latin typeface="Calibri"/>
              </a:rPr>
              <a:t>Se detectaron y quitaron 8 filas repetidas exactas (5.008 → 5.000).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3   </a:t>
            </a:r>
            <a:r>
              <a:rPr sz="1500" b="1">
                <a:solidFill>
                  <a:srgbClr val="FFFFFF"/>
                </a:solidFill>
                <a:latin typeface="Calibri"/>
              </a:rPr>
              <a:t>Normalización de categorías.  </a:t>
            </a:r>
            <a:r>
              <a:rPr sz="1350">
                <a:solidFill>
                  <a:srgbClr val="D8DEDE"/>
                </a:solidFill>
                <a:latin typeface="Calibri"/>
              </a:rPr>
              <a:t>Se unificó la variable prioridad (mayúsculas y espacios) en 4 niveles consistentes.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4   </a:t>
            </a:r>
            <a:r>
              <a:rPr sz="1500" b="1">
                <a:solidFill>
                  <a:srgbClr val="FFFFFF"/>
                </a:solidFill>
                <a:latin typeface="Calibri"/>
              </a:rPr>
              <a:t>Corrección de tipos.  </a:t>
            </a:r>
            <a:r>
              <a:rPr sz="1350">
                <a:solidFill>
                  <a:srgbClr val="D8DEDE"/>
                </a:solidFill>
                <a:latin typeface="Calibri"/>
              </a:rPr>
              <a:t>Las variables cualitativas se convirtieron a factor; la prioridad se definió como ordinal.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5   </a:t>
            </a:r>
            <a:r>
              <a:rPr sz="1500" b="1">
                <a:solidFill>
                  <a:srgbClr val="FFFFFF"/>
                </a:solidFill>
                <a:latin typeface="Calibri"/>
              </a:rPr>
              <a:t>Valores imposibles.  </a:t>
            </a:r>
            <a:r>
              <a:rPr sz="1350">
                <a:solidFill>
                  <a:srgbClr val="D8DEDE"/>
                </a:solidFill>
                <a:latin typeface="Calibri"/>
              </a:rPr>
              <a:t>12 registros de cobertura fuera del rango 0–100 % se marcaron como faltantes.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6 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Tratamiento de faltantes.  </a:t>
            </a:r>
            <a:r>
              <a:rPr sz="1350">
                <a:solidFill>
                  <a:srgbClr val="D8DEDE"/>
                </a:solidFill>
                <a:latin typeface="Calibri"/>
              </a:rPr>
              <a:t>Se conservaron los 312 NA (sin imputar ni eliminar) para analizarlos con los datos disponibles.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7   </a:t>
            </a:r>
            <a:r>
              <a:rPr sz="1500" b="1">
                <a:solidFill>
                  <a:srgbClr val="FFFFFF"/>
                </a:solidFill>
                <a:latin typeface="Calibri"/>
              </a:rPr>
              <a:t>Exportación.  </a:t>
            </a:r>
            <a:r>
              <a:rPr sz="1350">
                <a:solidFill>
                  <a:srgbClr val="D8DEDE"/>
                </a:solidFill>
                <a:latin typeface="Calibri"/>
              </a:rPr>
              <a:t>Se guardó el conjunto limpio (devops_metrics_clean.csv) para las fases siguientes.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Descriptiva univariada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91672" cy="2176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30552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variable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mediana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desv_est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coef_var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rango_iq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asimetría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curtosis</a:t>
                      </a:r>
                    </a:p>
                  </a:txBody>
                  <a:tcPr marL="54864" marR="54864" marT="18288" marB="18288" anchor="ctr">
                    <a:solidFill>
                      <a:srgbClr val="2B333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build_time_min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8.32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4.08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4.68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1.68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8.21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deploy_time_min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1.77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1.30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6.53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commit_size_loc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139.09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114.00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100.50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120.00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1.44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5.72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num_bugs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0.91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1.09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1.45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5.62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test_coverage_pct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84.48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11.75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-0.71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3.13</a:t>
                      </a:r>
                    </a:p>
                  </a:txBody>
                  <a:tcPr marL="54864" marR="54864" marT="18288" marB="18288" anchor="ctr">
                    <a:solidFill>
                      <a:srgbClr val="3B454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ticket_resolution_h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8.82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7.48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7.03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2.73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>
                          <a:solidFill>
                            <a:srgbClr val="D8DEDE"/>
                          </a:solidFill>
                          <a:latin typeface="Calibri"/>
                        </a:rPr>
                        <a:t>16.14</a:t>
                      </a:r>
                    </a:p>
                  </a:txBody>
                  <a:tcPr marL="54864" marR="54864" marT="18288" marB="18288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 mayoría de las variables tienen asimetría positiva: la media supera a la mediana (sesgo hacia la derecha).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ticket_resolution_h es la más sesgada y con más valores atípicos (curtosis 16.14); test_coverage_pct es la más simétrica y homogénea.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67A55"/>
                </a:solidFill>
                <a:latin typeface="Calibri"/>
              </a:rPr>
              <a:t>•  </a:t>
            </a:r>
            <a:r>
              <a:rPr sz="1300">
                <a:solidFill>
                  <a:srgbClr val="D8DEDE"/>
                </a:solidFill>
                <a:latin typeface="Calibri"/>
              </a:rPr>
              <a:t>Las más irregulares (mayor coeficiente de variación) son num_bugs y commit_size_loc.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Frecuencias y agrupación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3840480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/>
                <a:gridCol w="96012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clase (min)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1.25 – 4.15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494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0.099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4.15 – 7.01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1703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B3334"/>
                          </a:solidFill>
                          <a:latin typeface="Calibri"/>
                        </a:rPr>
                        <a:t>0.341</a:t>
                      </a:r>
                    </a:p>
                  </a:txBody>
                  <a:tcPr marL="73152" marR="73152" marT="0" marB="0" anchor="ctr">
                    <a:solidFill>
                      <a:srgbClr val="C67A5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7.01 – 9.86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1436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0.287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9.86 – 12.7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766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12.7 – 15.6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15.6 – 18.4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148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18.4 – 21.3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21.3 – 24.2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24.2 – 27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27 – 29.9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29.9 – 32.7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32.7 – 35.6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FFFFF"/>
                          </a:solidFill>
                          <a:latin typeface="Calibri"/>
                        </a:rPr>
                        <a:t>38.4 – 41.3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D8DEDE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892040" y="1874519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En palabras simples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Lo más común es que un build tarde entre 4 y 7 minutos (fila naranja): 1.703 casos, la clase con más datos.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Casi 3 de cada 4 builds terminan en menos de 10 minutos.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•  </a:t>
            </a:r>
            <a:r>
              <a:rPr sz="1500">
                <a:solidFill>
                  <a:srgbClr val="D8DEDE"/>
                </a:solidFill>
                <a:latin typeface="Calibri"/>
              </a:rPr>
              <a:t>Muy pocos builds superan los 18 minutos: son los casos lentos y poco frecuentes.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Análisis por grupos</a:t>
            </a:r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5257800" cy="18288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777240"/>
                <a:gridCol w="105156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prioridad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build md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bugs prom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tasa fallos</a:t>
                      </a:r>
                    </a:p>
                  </a:txBody>
                  <a:tcPr marL="73152" marR="73152" marT="0" marB="0" anchor="ctr">
                    <a:solidFill>
                      <a:srgbClr val="2B333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baja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1533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0.57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0.034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media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1921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7.47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1063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7.56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0.048</a:t>
                      </a:r>
                    </a:p>
                  </a:txBody>
                  <a:tcPr marL="73152" marR="73152" marT="0" marB="0" anchor="ctr">
                    <a:solidFill>
                      <a:srgbClr val="3B45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critica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483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7.32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1.51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D8DEDE"/>
                          </a:solidFill>
                          <a:latin typeface="Calibri"/>
                        </a:rPr>
                        <a:t>0.064</a:t>
                      </a:r>
                    </a:p>
                  </a:txBody>
                  <a:tcPr marL="73152" marR="73152" marT="0" marB="0" anchor="ctr">
                    <a:solidFill>
                      <a:srgbClr val="343D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5257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9AA3A4"/>
                </a:solidFill>
                <a:latin typeface="Calibri"/>
              </a:rPr>
              <a:t>build md = mediana del tiempo de build (min)  ·  tasa fallos = proporción de deploy fallidos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874519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C67A55"/>
                </a:solidFill>
                <a:latin typeface="Calibri"/>
              </a:rPr>
              <a:t>Hallazgos principales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Prioridad.  </a:t>
            </a:r>
            <a:r>
              <a:rPr sz="1400">
                <a:solidFill>
                  <a:srgbClr val="D8DEDE"/>
                </a:solidFill>
                <a:latin typeface="Calibri"/>
              </a:rPr>
              <a:t>a mayor prioridad, más bugs (de 0.57 en baja a 1.51 en crítica) y casi el doble de fallos. Los despliegues urgentes son más riesgosos.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Equipos.  </a:t>
            </a:r>
            <a:r>
              <a:rPr sz="1400">
                <a:solidFill>
                  <a:srgbClr val="D8DEDE"/>
                </a:solidFill>
                <a:latin typeface="Calibri"/>
              </a:rPr>
              <a:t>se diferencian en velocidad, no en calidad: Gamma es el más lento (8.42 min) y Alpha el más rápido (6.76 min), con bugs y fallos similares.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400" b="1">
                <a:solidFill>
                  <a:srgbClr val="C67A55"/>
                </a:solidFill>
                <a:latin typeface="Calibri"/>
              </a:rPr>
              <a:t>•  </a:t>
            </a:r>
            <a:r>
              <a:rPr sz="1400" b="1">
                <a:solidFill>
                  <a:srgbClr val="FFFFFF"/>
                </a:solidFill>
                <a:latin typeface="Calibri"/>
              </a:rPr>
              <a:t>Módulos.  </a:t>
            </a:r>
            <a:r>
              <a:rPr sz="1400">
                <a:solidFill>
                  <a:srgbClr val="D8DEDE"/>
                </a:solidFill>
                <a:latin typeface="Calibri"/>
              </a:rPr>
              <a:t>diferencias menores; auth es el más estable y search el de mayor tasa de fallos.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Relaciones bivariadas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bivariadas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Visualizaciones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comunican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</a:t>
            </a: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Reporte reproducible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reproducible.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CRÍTICO DE LA IA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Bitácora de prompts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prompts,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400" dirty="0" err="1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ensayar</a:t>
            </a: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defensa.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B45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6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Conclusiones y defensa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accionables, decisiones tomadas y preparación de la defensa oral (5–10 min).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465</Words>
  <Application>Microsoft Office PowerPoint</Application>
  <PresentationFormat>Panorámica</PresentationFormat>
  <Paragraphs>84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Matías Vicente Reyes Duarte</cp:lastModifiedBy>
  <cp:revision>2</cp:revision>
  <dcterms:created xsi:type="dcterms:W3CDTF">2026-08-28T20:21:12Z</dcterms:created>
  <dcterms:modified xsi:type="dcterms:W3CDTF">2026-08-28T20:49:31Z</dcterms:modified>
</cp:coreProperties>
</file>