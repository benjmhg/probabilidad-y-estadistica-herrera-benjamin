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25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3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8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y Estadística Computacional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24248" y="4069080"/>
            <a:ext cx="2743200" cy="0"/>
          </a:xfrm>
          <a:prstGeom prst="line">
            <a:avLst/>
          </a:prstGeom>
          <a:noFill/>
          <a:ln w="19050">
            <a:solidFill>
              <a:srgbClr val="C67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Herrera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DATOS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escenario y el conjunto de datos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CL" sz="1400" dirty="0">
                <a:solidFill>
                  <a:schemeClr val="bg1"/>
                </a:solidFill>
              </a:rPr>
              <a:t>Como analista de datos de un equipo de ingeniería, se analiza un histórico de métricas de DevOps con estadística descriptiva en R. Cada fila del archivo devops_metrics.csv es un evento de integración/despliegue: 5.008 filas y 11 variables, con problemas de calidad (faltantes, valores fuera de rango y duplicados) que se depuran en la Fase 1.  	</a:t>
            </a:r>
          </a:p>
          <a:p>
            <a:pPr algn="just"/>
            <a:r>
              <a:rPr lang="es-CL" sz="1400" dirty="0">
                <a:solidFill>
                  <a:schemeClr val="bg1"/>
                </a:solidFill>
              </a:rPr>
              <a:t>* El valor numero 11 es un id que se le dio a cada evento para identificarlo</a:t>
            </a:r>
            <a:endParaRPr 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4977646-9154-81C3-9F71-F98DD2AE1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107882"/>
              </p:ext>
            </p:extLst>
          </p:nvPr>
        </p:nvGraphicFramePr>
        <p:xfrm>
          <a:off x="550164" y="2788921"/>
          <a:ext cx="11091672" cy="3657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45417554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396350532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354338588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540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build_time_min / deploy_time_min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de build y de despliegue (min)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2672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commit_size_loc / num_bugs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discreta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 modificadas y bugs tras el despliegue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387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test_coverage_pct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de pruebas (0–100 %)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19197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ticket_resolution_h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para resolver el ticket asociado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354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/ module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(Alpha…Delta) y módulo (auth, api, ui…)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3568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ordinal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· media · alta · crítica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2102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deploy_status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· failed · rolled_back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7444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Objetivos, entorno y trabajo con IA</a:t>
            </a:r>
            <a:endParaRPr lang="en-US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5A9227-8578-203C-7C05-EA8B7BA395F4}"/>
              </a:ext>
            </a:extLst>
          </p:cNvPr>
          <p:cNvSpPr txBox="1"/>
          <p:nvPr/>
        </p:nvSpPr>
        <p:spPr>
          <a:xfrm>
            <a:off x="548640" y="1905095"/>
            <a:ext cx="11064240" cy="432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SzPct val="100000"/>
            </a:pPr>
            <a:r>
              <a:rPr lang="en-US" sz="1300" dirty="0">
                <a:solidFill>
                  <a:schemeClr val="bg1"/>
                </a:solidFill>
              </a:rPr>
              <a:t>En </a:t>
            </a:r>
            <a:r>
              <a:rPr lang="en-US" sz="1300" dirty="0" err="1">
                <a:solidFill>
                  <a:schemeClr val="bg1"/>
                </a:solidFill>
              </a:rPr>
              <a:t>cuanto</a:t>
            </a:r>
            <a:r>
              <a:rPr lang="en-US" sz="1300" dirty="0">
                <a:solidFill>
                  <a:schemeClr val="bg1"/>
                </a:solidFill>
              </a:rPr>
              <a:t> a </a:t>
            </a:r>
            <a:r>
              <a:rPr lang="en-US" sz="1300" dirty="0" err="1">
                <a:solidFill>
                  <a:schemeClr val="bg1"/>
                </a:solidFill>
              </a:rPr>
              <a:t>objetivos</a:t>
            </a:r>
            <a:r>
              <a:rPr lang="en-US" sz="1300" dirty="0">
                <a:solidFill>
                  <a:schemeClr val="bg1"/>
                </a:solidFill>
              </a:rPr>
              <a:t> temenos 3 principals: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central,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forma.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variables.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reproducible con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accionables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s-CL" sz="1300" dirty="0">
                <a:solidFill>
                  <a:schemeClr val="bg1"/>
                </a:solidFill>
              </a:rPr>
              <a:t>Entorno:</a:t>
            </a: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 (≥ 4.2) + RStudio, Git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tidyverse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moments para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asimetría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/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curtosis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rmarkdown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o quarto para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reporte</a:t>
            </a:r>
            <a:endParaRPr lang="en-US" sz="13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con IA</a:t>
            </a: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La IA es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asistente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, no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reemplazo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explica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línea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Lleva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anota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prompt, sus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versiones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corregiste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Sin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de prompts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considera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incompleto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>
              <a:spcAft>
                <a:spcPts val="800"/>
              </a:spcAft>
              <a:buSzPct val="100000"/>
            </a:pPr>
            <a:endParaRPr lang="en-US" sz="13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 lvl="7">
              <a:spcAft>
                <a:spcPts val="900"/>
              </a:spcAft>
              <a:buSzPct val="100000"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Carga y limpieza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1   </a:t>
            </a:r>
            <a:r>
              <a:rPr sz="1500" b="1">
                <a:solidFill>
                  <a:srgbClr val="FFFFFF"/>
                </a:solidFill>
                <a:latin typeface="Calibri"/>
              </a:rPr>
              <a:t>Carga e inspección.  </a:t>
            </a:r>
            <a:r>
              <a:rPr sz="1350">
                <a:solidFill>
                  <a:srgbClr val="D8DEDE"/>
                </a:solidFill>
                <a:latin typeface="Calibri"/>
              </a:rPr>
              <a:t>Se importó el archivo (5.008 filas, 11 variables) y se revisaron su estructura, rangos y valores faltantes.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2   </a:t>
            </a:r>
            <a:r>
              <a:rPr sz="1500" b="1">
                <a:solidFill>
                  <a:srgbClr val="FFFFFF"/>
                </a:solidFill>
                <a:latin typeface="Calibri"/>
              </a:rPr>
              <a:t>Eliminación de duplicados.  </a:t>
            </a:r>
            <a:r>
              <a:rPr sz="1350">
                <a:solidFill>
                  <a:srgbClr val="D8DEDE"/>
                </a:solidFill>
                <a:latin typeface="Calibri"/>
              </a:rPr>
              <a:t>Se detectaron y quitaron 8 filas repetidas exactas (5.008 → 5.000).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3   </a:t>
            </a:r>
            <a:r>
              <a:rPr sz="1500" b="1">
                <a:solidFill>
                  <a:srgbClr val="FFFFFF"/>
                </a:solidFill>
                <a:latin typeface="Calibri"/>
              </a:rPr>
              <a:t>Normalización de categorías.  </a:t>
            </a:r>
            <a:r>
              <a:rPr sz="1350">
                <a:solidFill>
                  <a:srgbClr val="D8DEDE"/>
                </a:solidFill>
                <a:latin typeface="Calibri"/>
              </a:rPr>
              <a:t>Se unificó la variable prioridad (mayúsculas y espacios) en 4 niveles consistentes.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4   </a:t>
            </a:r>
            <a:r>
              <a:rPr sz="1500" b="1">
                <a:solidFill>
                  <a:srgbClr val="FFFFFF"/>
                </a:solidFill>
                <a:latin typeface="Calibri"/>
              </a:rPr>
              <a:t>Corrección de tipos.  </a:t>
            </a:r>
            <a:r>
              <a:rPr sz="1350">
                <a:solidFill>
                  <a:srgbClr val="D8DEDE"/>
                </a:solidFill>
                <a:latin typeface="Calibri"/>
              </a:rPr>
              <a:t>Las variables cualitativas se convirtieron a factor; la prioridad se definió como ordinal.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5   </a:t>
            </a:r>
            <a:r>
              <a:rPr sz="1500" b="1">
                <a:solidFill>
                  <a:srgbClr val="FFFFFF"/>
                </a:solidFill>
                <a:latin typeface="Calibri"/>
              </a:rPr>
              <a:t>Valores imposibles.  </a:t>
            </a:r>
            <a:r>
              <a:rPr sz="1350">
                <a:solidFill>
                  <a:srgbClr val="D8DEDE"/>
                </a:solidFill>
                <a:latin typeface="Calibri"/>
              </a:rPr>
              <a:t>12 registros de cobertura fuera del rango 0–100 % se marcaron como faltantes.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6   </a:t>
            </a:r>
            <a:r>
              <a:rPr sz="1500" b="1">
                <a:solidFill>
                  <a:srgbClr val="FFFFFF"/>
                </a:solidFill>
                <a:latin typeface="Calibri"/>
              </a:rPr>
              <a:t>Tratamiento de faltantes.  </a:t>
            </a:r>
            <a:r>
              <a:rPr sz="1350">
                <a:solidFill>
                  <a:srgbClr val="D8DEDE"/>
                </a:solidFill>
                <a:latin typeface="Calibri"/>
              </a:rPr>
              <a:t>Se conservaron los 312 NA (sin imputar ni eliminar) para analizarlos con los datos disponibles.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7   </a:t>
            </a:r>
            <a:r>
              <a:rPr sz="1500" b="1">
                <a:solidFill>
                  <a:srgbClr val="FFFFFF"/>
                </a:solidFill>
                <a:latin typeface="Calibri"/>
              </a:rPr>
              <a:t>Exportación.  </a:t>
            </a:r>
            <a:r>
              <a:rPr sz="1350">
                <a:solidFill>
                  <a:srgbClr val="D8DEDE"/>
                </a:solidFill>
                <a:latin typeface="Calibri"/>
              </a:rPr>
              <a:t>Se guardó el conjunto limpio (devops_metrics_clean.csv) para las fases siguientes.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Descriptiva univariada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91672" cy="21762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30552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desv_est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coef_var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rango_iq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asimetría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curtosis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build_time_min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8.32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7.49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4.08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4.68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1.68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8.21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deploy_time_min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3.60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3.35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1.46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1.77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1.30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6.53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commit_size_loc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139.09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100.50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1.44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5.72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num_bugs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5.62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test_coverage_pct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84.48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85.80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8.42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11.75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-0.71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3.13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ticket_resolution_h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8.82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6.70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7.48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7.03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2.73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16.14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262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La mayoría de las variables tienen asimetría positiva: la media supera a la mediana (sesgo hacia la derecha).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ticket_resolution_h es la más sesgada y con más valores atípicos (curtosis 16.14); test_coverage_pct es la más simétrica y homogénea.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Las más irregulares (mayor coeficiente de variación) son num_bugs y commit_size_loc.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Frecuencias y agrupación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3840480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96012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clase (min)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1.25 – 4.15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494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4.15 – 7.01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1703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0.341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7.01 – 9.86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1436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0.287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9.86 – 12.7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766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12.7 – 15.6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15.6 – 18.4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18.4 – 21.3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21.3 – 24.2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24.2 – 27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27 – 29.9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29.9 – 32.7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32.7 – 35.6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38.4 – 41.3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9204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En palabras simples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Lo más común es que un build tarde entre 4 y 7 minutos (fila naranja): 1.703 casos, la clase con más datos.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Casi 3 de cada 4 builds terminan en menos de 10 minutos.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Muy pocos builds superan los 18 minutos: son los casos lentos y poco frecuentes.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Análisis por grupos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48840"/>
          <a:ext cx="5257800" cy="1828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777240"/>
                <a:gridCol w="105156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build md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bugs prom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tasa fallos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1533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7.49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0.034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1921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7.47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1063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7.56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0.048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critica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483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7.32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1.51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60520"/>
            <a:ext cx="5257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AA3A4"/>
                </a:solidFill>
                <a:latin typeface="Calibri"/>
              </a:rPr>
              <a:t>build md = mediana del tiempo de build (min)  ·  tasa fallos = proporción de deploy fallidos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874519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Hallazgos principales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Prioridad.  </a:t>
            </a:r>
            <a:r>
              <a:rPr sz="1400">
                <a:solidFill>
                  <a:srgbClr val="D8DEDE"/>
                </a:solidFill>
                <a:latin typeface="Calibri"/>
              </a:rPr>
              <a:t>a mayor prioridad, más bugs (de 0.57 en baja a 1.51 en crítica) y casi el doble de fallos. Los despliegues urgentes son más riesgosos.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Equipos.  </a:t>
            </a:r>
            <a:r>
              <a:rPr sz="1400">
                <a:solidFill>
                  <a:srgbClr val="D8DEDE"/>
                </a:solidFill>
                <a:latin typeface="Calibri"/>
              </a:rPr>
              <a:t>se diferencian en velocidad, no en calidad: Gamma es el más lento (8.42 min) y Alpha el más rápido (6.76 min), con bugs y fallos similares.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Módulos.  </a:t>
            </a:r>
            <a:r>
              <a:rPr sz="1400">
                <a:solidFill>
                  <a:srgbClr val="D8DEDE"/>
                </a:solidFill>
                <a:latin typeface="Calibri"/>
              </a:rPr>
              <a:t>diferencias menores; auth es el más estable y search el de mayor tasa de fallos.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Relaciones bivariadas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5550408" cy="21122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51560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deploy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bugs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cobert.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ticket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deploy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54864" marR="54864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-0.05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bugs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54864" marR="54864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-0.15</a:t>
                      </a:r>
                    </a:p>
                  </a:txBody>
                  <a:tcPr marL="54864" marR="54864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-0.08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cobert.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-0.15</a:t>
                      </a:r>
                    </a:p>
                  </a:txBody>
                  <a:tcPr marL="54864" marR="54864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ticket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-0.05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-0.08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605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67A55"/>
                </a:solidFill>
                <a:latin typeface="Calibri"/>
              </a:rPr>
              <a:t>Correlación no es causalidad: </a:t>
            </a:r>
            <a:r>
              <a:rPr sz="1300">
                <a:solidFill>
                  <a:srgbClr val="D8DEDE"/>
                </a:solidFill>
                <a:latin typeface="Calibri"/>
              </a:rPr>
              <a:t>que dos variables se muevan juntas no prueba que una cause la otra.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Qué se observa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Relación más fuerte: commits grandes ↔ más bugs (0.42).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Más cobertura de pruebas ↔ menos bugs (-0.15), relación débil.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El resto de las variables son casi independientes (≈ 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70332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Equipo × estado del deploy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3977639"/>
          <a:ext cx="4389120" cy="1554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43000"/>
                <a:gridCol w="960120"/>
                <a:gridCol w="1234440"/>
                <a:gridCol w="10515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equipo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failed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rolled_back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Alpha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1429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Beta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1403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829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Gamma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1037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Visualización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Reporte reproducible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reproducible.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CRÍTICO DE LA IA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Bitácora de prompts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prompts,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defensa.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Conclusiones y defensa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accionables, decisiones tomadas y preparación de la defensa oral (5–10 min).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465</Words>
  <Application>Microsoft Office PowerPoint</Application>
  <PresentationFormat>Panorámica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Matías Vicente Reyes Duarte</cp:lastModifiedBy>
  <cp:revision>2</cp:revision>
  <dcterms:created xsi:type="dcterms:W3CDTF">2026-08-28T20:21:12Z</dcterms:created>
  <dcterms:modified xsi:type="dcterms:W3CDTF">2026-08-28T20:49:31Z</dcterms:modified>
</cp:coreProperties>
</file>